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8288000" cy="10287000"/>
  <p:notesSz cx="6858000" cy="9144000"/>
  <p:embeddedFontLst>
    <p:embeddedFont>
      <p:font typeface="TT Norms" panose="020B0604020202020204" charset="0"/>
      <p:regular r:id="rId34"/>
    </p:embeddedFont>
    <p:embeddedFont>
      <p:font typeface="TT Norms Bold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864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28-Dec-25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9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7.svg"/><Relationship Id="rId5" Type="http://schemas.openxmlformats.org/officeDocument/2006/relationships/image" Target="../media/image13.png"/><Relationship Id="rId10" Type="http://schemas.openxmlformats.org/officeDocument/2006/relationships/image" Target="../media/image16.png"/><Relationship Id="rId4" Type="http://schemas.openxmlformats.org/officeDocument/2006/relationships/image" Target="../media/image12.svg"/><Relationship Id="rId9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3.sv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12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5" Type="http://schemas.openxmlformats.org/officeDocument/2006/relationships/image" Target="../media/image14.svg"/><Relationship Id="rId10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7.svg"/><Relationship Id="rId5" Type="http://schemas.openxmlformats.org/officeDocument/2006/relationships/image" Target="../media/image14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9.svg"/><Relationship Id="rId3" Type="http://schemas.openxmlformats.org/officeDocument/2006/relationships/image" Target="../media/image15.png"/><Relationship Id="rId7" Type="http://schemas.openxmlformats.org/officeDocument/2006/relationships/image" Target="../media/image17.svg"/><Relationship Id="rId12" Type="http://schemas.openxmlformats.org/officeDocument/2006/relationships/image" Target="../media/image28.png"/><Relationship Id="rId2" Type="http://schemas.openxmlformats.org/officeDocument/2006/relationships/image" Target="../media/image10.png"/><Relationship Id="rId16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7.svg"/><Relationship Id="rId5" Type="http://schemas.openxmlformats.org/officeDocument/2006/relationships/image" Target="../media/image14.sv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5.svg"/><Relationship Id="rId1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6.png"/><Relationship Id="rId3" Type="http://schemas.openxmlformats.org/officeDocument/2006/relationships/image" Target="../media/image15.png"/><Relationship Id="rId7" Type="http://schemas.openxmlformats.org/officeDocument/2006/relationships/image" Target="../media/image14.svg"/><Relationship Id="rId12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7.svg"/><Relationship Id="rId5" Type="http://schemas.openxmlformats.org/officeDocument/2006/relationships/image" Target="../media/image5.svg"/><Relationship Id="rId15" Type="http://schemas.openxmlformats.org/officeDocument/2006/relationships/image" Target="../media/image38.pn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34.svg"/><Relationship Id="rId1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12" Type="http://schemas.openxmlformats.org/officeDocument/2006/relationships/image" Target="../media/image3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7.svg"/><Relationship Id="rId5" Type="http://schemas.openxmlformats.org/officeDocument/2006/relationships/image" Target="../media/image14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41.png"/><Relationship Id="rId5" Type="http://schemas.openxmlformats.org/officeDocument/2006/relationships/image" Target="../media/image15.png"/><Relationship Id="rId10" Type="http://schemas.openxmlformats.org/officeDocument/2006/relationships/image" Target="../media/image40.png"/><Relationship Id="rId4" Type="http://schemas.openxmlformats.org/officeDocument/2006/relationships/image" Target="../media/image5.svg"/><Relationship Id="rId9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45.png"/><Relationship Id="rId3" Type="http://schemas.openxmlformats.org/officeDocument/2006/relationships/image" Target="../media/image15.png"/><Relationship Id="rId7" Type="http://schemas.openxmlformats.org/officeDocument/2006/relationships/image" Target="../media/image43.svg"/><Relationship Id="rId12" Type="http://schemas.openxmlformats.org/officeDocument/2006/relationships/image" Target="../media/image4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5.svg"/><Relationship Id="rId5" Type="http://schemas.openxmlformats.org/officeDocument/2006/relationships/image" Target="../media/image14.svg"/><Relationship Id="rId10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12" Type="http://schemas.openxmlformats.org/officeDocument/2006/relationships/image" Target="../media/image4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3.sv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12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5" Type="http://schemas.openxmlformats.org/officeDocument/2006/relationships/image" Target="../media/image14.svg"/><Relationship Id="rId15" Type="http://schemas.openxmlformats.org/officeDocument/2006/relationships/image" Target="../media/image48.png"/><Relationship Id="rId10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Relationship Id="rId1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50.png"/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12" Type="http://schemas.openxmlformats.org/officeDocument/2006/relationships/image" Target="../media/image4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7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9.svg"/><Relationship Id="rId3" Type="http://schemas.openxmlformats.org/officeDocument/2006/relationships/image" Target="../media/image15.png"/><Relationship Id="rId7" Type="http://schemas.openxmlformats.org/officeDocument/2006/relationships/image" Target="../media/image17.svg"/><Relationship Id="rId12" Type="http://schemas.openxmlformats.org/officeDocument/2006/relationships/image" Target="../media/image28.png"/><Relationship Id="rId2" Type="http://schemas.openxmlformats.org/officeDocument/2006/relationships/image" Target="../media/image10.png"/><Relationship Id="rId16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7.svg"/><Relationship Id="rId5" Type="http://schemas.openxmlformats.org/officeDocument/2006/relationships/image" Target="../media/image14.sv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5.svg"/><Relationship Id="rId1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53.png"/><Relationship Id="rId5" Type="http://schemas.openxmlformats.org/officeDocument/2006/relationships/image" Target="../media/image15.png"/><Relationship Id="rId10" Type="http://schemas.openxmlformats.org/officeDocument/2006/relationships/image" Target="../media/image52.png"/><Relationship Id="rId4" Type="http://schemas.openxmlformats.org/officeDocument/2006/relationships/image" Target="../media/image5.svg"/><Relationship Id="rId9" Type="http://schemas.openxmlformats.org/officeDocument/2006/relationships/image" Target="../media/image1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55.png"/><Relationship Id="rId3" Type="http://schemas.openxmlformats.org/officeDocument/2006/relationships/image" Target="../media/image15.png"/><Relationship Id="rId7" Type="http://schemas.openxmlformats.org/officeDocument/2006/relationships/image" Target="../media/image43.svg"/><Relationship Id="rId12" Type="http://schemas.openxmlformats.org/officeDocument/2006/relationships/image" Target="../media/image5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5.svg"/><Relationship Id="rId5" Type="http://schemas.openxmlformats.org/officeDocument/2006/relationships/image" Target="../media/image14.svg"/><Relationship Id="rId10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3.sv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12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5" Type="http://schemas.openxmlformats.org/officeDocument/2006/relationships/image" Target="../media/image14.svg"/><Relationship Id="rId10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Relationship Id="rId1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58.png"/><Relationship Id="rId3" Type="http://schemas.openxmlformats.org/officeDocument/2006/relationships/image" Target="../media/image15.png"/><Relationship Id="rId7" Type="http://schemas.openxmlformats.org/officeDocument/2006/relationships/image" Target="../media/image43.svg"/><Relationship Id="rId12" Type="http://schemas.openxmlformats.org/officeDocument/2006/relationships/image" Target="../media/image5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5.svg"/><Relationship Id="rId5" Type="http://schemas.openxmlformats.org/officeDocument/2006/relationships/image" Target="../media/image14.svg"/><Relationship Id="rId10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60.png"/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12" Type="http://schemas.openxmlformats.org/officeDocument/2006/relationships/image" Target="../media/image5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7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12" Type="http://schemas.openxmlformats.org/officeDocument/2006/relationships/image" Target="../media/image6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7.svg"/><Relationship Id="rId5" Type="http://schemas.openxmlformats.org/officeDocument/2006/relationships/image" Target="../media/image14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5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3.sv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12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5" Type="http://schemas.openxmlformats.org/officeDocument/2006/relationships/image" Target="../media/image14.svg"/><Relationship Id="rId15" Type="http://schemas.openxmlformats.org/officeDocument/2006/relationships/image" Target="../media/image63.png"/><Relationship Id="rId10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Relationship Id="rId1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65.png"/><Relationship Id="rId3" Type="http://schemas.openxmlformats.org/officeDocument/2006/relationships/image" Target="../media/image15.png"/><Relationship Id="rId7" Type="http://schemas.openxmlformats.org/officeDocument/2006/relationships/image" Target="../media/image43.svg"/><Relationship Id="rId12" Type="http://schemas.openxmlformats.org/officeDocument/2006/relationships/image" Target="../media/image6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5.svg"/><Relationship Id="rId5" Type="http://schemas.openxmlformats.org/officeDocument/2006/relationships/image" Target="../media/image14.svg"/><Relationship Id="rId10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Relationship Id="rId14" Type="http://schemas.openxmlformats.org/officeDocument/2006/relationships/image" Target="../media/image6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68.pn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12" Type="http://schemas.openxmlformats.org/officeDocument/2006/relationships/image" Target="../media/image6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7.svg"/><Relationship Id="rId5" Type="http://schemas.openxmlformats.org/officeDocument/2006/relationships/image" Target="../media/image14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5.svg"/><Relationship Id="rId1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71.png"/><Relationship Id="rId3" Type="http://schemas.openxmlformats.org/officeDocument/2006/relationships/image" Target="../media/image15.png"/><Relationship Id="rId7" Type="http://schemas.openxmlformats.org/officeDocument/2006/relationships/image" Target="../media/image14.svg"/><Relationship Id="rId12" Type="http://schemas.openxmlformats.org/officeDocument/2006/relationships/image" Target="../media/image7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7.svg"/><Relationship Id="rId5" Type="http://schemas.openxmlformats.org/officeDocument/2006/relationships/image" Target="../media/image5.sv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34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9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7.svg"/><Relationship Id="rId5" Type="http://schemas.openxmlformats.org/officeDocument/2006/relationships/image" Target="../media/image13.png"/><Relationship Id="rId15" Type="http://schemas.openxmlformats.org/officeDocument/2006/relationships/image" Target="../media/image73.png"/><Relationship Id="rId10" Type="http://schemas.openxmlformats.org/officeDocument/2006/relationships/image" Target="../media/image16.png"/><Relationship Id="rId4" Type="http://schemas.openxmlformats.org/officeDocument/2006/relationships/image" Target="../media/image12.svg"/><Relationship Id="rId9" Type="http://schemas.openxmlformats.org/officeDocument/2006/relationships/image" Target="../media/image5.svg"/><Relationship Id="rId14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75.pn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12" Type="http://schemas.openxmlformats.org/officeDocument/2006/relationships/image" Target="../media/image7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7.svg"/><Relationship Id="rId5" Type="http://schemas.openxmlformats.org/officeDocument/2006/relationships/image" Target="../media/image14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25.svg"/><Relationship Id="rId14" Type="http://schemas.openxmlformats.org/officeDocument/2006/relationships/image" Target="../media/image7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78.png"/><Relationship Id="rId3" Type="http://schemas.openxmlformats.org/officeDocument/2006/relationships/image" Target="../media/image4.png"/><Relationship Id="rId7" Type="http://schemas.openxmlformats.org/officeDocument/2006/relationships/image" Target="../media/image14.svg"/><Relationship Id="rId12" Type="http://schemas.openxmlformats.org/officeDocument/2006/relationships/image" Target="../media/image7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1.sv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5.svg"/><Relationship Id="rId9" Type="http://schemas.openxmlformats.org/officeDocument/2006/relationships/image" Target="../media/image17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80.png"/><Relationship Id="rId3" Type="http://schemas.openxmlformats.org/officeDocument/2006/relationships/image" Target="../media/image15.png"/><Relationship Id="rId7" Type="http://schemas.openxmlformats.org/officeDocument/2006/relationships/image" Target="../media/image43.svg"/><Relationship Id="rId12" Type="http://schemas.openxmlformats.org/officeDocument/2006/relationships/image" Target="../media/image7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5.svg"/><Relationship Id="rId5" Type="http://schemas.openxmlformats.org/officeDocument/2006/relationships/image" Target="../media/image14.svg"/><Relationship Id="rId10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Relationship Id="rId14" Type="http://schemas.openxmlformats.org/officeDocument/2006/relationships/image" Target="../media/image8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83.png"/><Relationship Id="rId3" Type="http://schemas.openxmlformats.org/officeDocument/2006/relationships/image" Target="../media/image15.png"/><Relationship Id="rId7" Type="http://schemas.openxmlformats.org/officeDocument/2006/relationships/image" Target="../media/image14.svg"/><Relationship Id="rId12" Type="http://schemas.openxmlformats.org/officeDocument/2006/relationships/image" Target="../media/image8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7.svg"/><Relationship Id="rId5" Type="http://schemas.openxmlformats.org/officeDocument/2006/relationships/image" Target="../media/image5.svg"/><Relationship Id="rId10" Type="http://schemas.openxmlformats.org/officeDocument/2006/relationships/image" Target="../media/image16.png"/><Relationship Id="rId4" Type="http://schemas.openxmlformats.org/officeDocument/2006/relationships/image" Target="../media/image4.png"/><Relationship Id="rId9" Type="http://schemas.openxmlformats.org/officeDocument/2006/relationships/image" Target="../media/image34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3.svg"/><Relationship Id="rId3" Type="http://schemas.openxmlformats.org/officeDocument/2006/relationships/image" Target="../media/image15.png"/><Relationship Id="rId7" Type="http://schemas.openxmlformats.org/officeDocument/2006/relationships/image" Target="../media/image5.svg"/><Relationship Id="rId12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12.svg"/><Relationship Id="rId5" Type="http://schemas.openxmlformats.org/officeDocument/2006/relationships/image" Target="../media/image14.svg"/><Relationship Id="rId15" Type="http://schemas.openxmlformats.org/officeDocument/2006/relationships/image" Target="../media/image85.png"/><Relationship Id="rId10" Type="http://schemas.openxmlformats.org/officeDocument/2006/relationships/image" Target="../media/image11.png"/><Relationship Id="rId4" Type="http://schemas.openxmlformats.org/officeDocument/2006/relationships/image" Target="../media/image13.png"/><Relationship Id="rId9" Type="http://schemas.openxmlformats.org/officeDocument/2006/relationships/image" Target="../media/image17.svg"/><Relationship Id="rId14" Type="http://schemas.openxmlformats.org/officeDocument/2006/relationships/image" Target="../media/image8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29.svg"/><Relationship Id="rId3" Type="http://schemas.openxmlformats.org/officeDocument/2006/relationships/image" Target="../media/image15.png"/><Relationship Id="rId7" Type="http://schemas.openxmlformats.org/officeDocument/2006/relationships/image" Target="../media/image17.svg"/><Relationship Id="rId12" Type="http://schemas.openxmlformats.org/officeDocument/2006/relationships/image" Target="../media/image2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7.svg"/><Relationship Id="rId5" Type="http://schemas.openxmlformats.org/officeDocument/2006/relationships/image" Target="../media/image14.svg"/><Relationship Id="rId15" Type="http://schemas.openxmlformats.org/officeDocument/2006/relationships/image" Target="../media/image32.sv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openxmlformats.org/officeDocument/2006/relationships/image" Target="../media/image5.svg"/><Relationship Id="rId1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87.svg"/><Relationship Id="rId4" Type="http://schemas.openxmlformats.org/officeDocument/2006/relationships/image" Target="../media/image3.svg"/><Relationship Id="rId9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12" t="-18886" r="-16973" b="-7969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594542" y="0"/>
            <a:ext cx="2176743" cy="4599911"/>
          </a:xfrm>
          <a:custGeom>
            <a:avLst/>
            <a:gdLst/>
            <a:ahLst/>
            <a:cxnLst/>
            <a:rect l="l" t="t" r="r" b="b"/>
            <a:pathLst>
              <a:path w="2176743" h="4599911">
                <a:moveTo>
                  <a:pt x="0" y="0"/>
                </a:moveTo>
                <a:lnTo>
                  <a:pt x="2176743" y="0"/>
                </a:lnTo>
                <a:lnTo>
                  <a:pt x="2176743" y="4599911"/>
                </a:lnTo>
                <a:lnTo>
                  <a:pt x="0" y="4599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64999" y="8494378"/>
            <a:ext cx="2176743" cy="4599911"/>
          </a:xfrm>
          <a:custGeom>
            <a:avLst/>
            <a:gdLst/>
            <a:ahLst/>
            <a:cxnLst/>
            <a:rect l="l" t="t" r="r" b="b"/>
            <a:pathLst>
              <a:path w="2176743" h="4599911">
                <a:moveTo>
                  <a:pt x="0" y="0"/>
                </a:moveTo>
                <a:lnTo>
                  <a:pt x="2176743" y="0"/>
                </a:lnTo>
                <a:lnTo>
                  <a:pt x="2176743" y="4599910"/>
                </a:lnTo>
                <a:lnTo>
                  <a:pt x="0" y="4599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30523" y="-514050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4664213"/>
            <a:ext cx="4621002" cy="142831"/>
          </a:xfrm>
          <a:custGeom>
            <a:avLst/>
            <a:gdLst/>
            <a:ahLst/>
            <a:cxnLst/>
            <a:rect l="l" t="t" r="r" b="b"/>
            <a:pathLst>
              <a:path w="4621002" h="142831">
                <a:moveTo>
                  <a:pt x="0" y="0"/>
                </a:moveTo>
                <a:lnTo>
                  <a:pt x="4621002" y="0"/>
                </a:lnTo>
                <a:lnTo>
                  <a:pt x="4621002" y="142831"/>
                </a:lnTo>
                <a:lnTo>
                  <a:pt x="0" y="1428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841742" y="413218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5381625"/>
            <a:ext cx="11683545" cy="38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23"/>
              </a:lnSpc>
            </a:pPr>
            <a:r>
              <a:rPr lang="en-US" sz="1033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Hospital Management Systems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1666" y="1483785"/>
            <a:ext cx="3832032" cy="32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5"/>
              </a:lnSpc>
            </a:pPr>
            <a:r>
              <a:rPr lang="en-US" sz="254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Saad Ahmed Shaikh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1666" y="3719858"/>
            <a:ext cx="7312901" cy="61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3"/>
              </a:lnSpc>
            </a:pPr>
            <a:r>
              <a:rPr lang="en-US" sz="4732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SQL Data Analytics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037318" y="-133378"/>
            <a:ext cx="2443964" cy="3054955"/>
          </a:xfrm>
          <a:custGeom>
            <a:avLst/>
            <a:gdLst/>
            <a:ahLst/>
            <a:cxnLst/>
            <a:rect l="l" t="t" r="r" b="b"/>
            <a:pathLst>
              <a:path w="2443964" h="3054955">
                <a:moveTo>
                  <a:pt x="0" y="0"/>
                </a:moveTo>
                <a:lnTo>
                  <a:pt x="2443964" y="0"/>
                </a:lnTo>
                <a:lnTo>
                  <a:pt x="2443964" y="3054955"/>
                </a:lnTo>
                <a:lnTo>
                  <a:pt x="0" y="30549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1652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321060" y="2115878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622281" y="8788644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654960" y="1675548"/>
            <a:ext cx="3235348" cy="1346753"/>
          </a:xfrm>
          <a:custGeom>
            <a:avLst/>
            <a:gdLst/>
            <a:ahLst/>
            <a:cxnLst/>
            <a:rect l="l" t="t" r="r" b="b"/>
            <a:pathLst>
              <a:path w="3235348" h="1346753">
                <a:moveTo>
                  <a:pt x="0" y="0"/>
                </a:moveTo>
                <a:lnTo>
                  <a:pt x="3235348" y="0"/>
                </a:lnTo>
                <a:lnTo>
                  <a:pt x="3235348" y="1346752"/>
                </a:lnTo>
                <a:lnTo>
                  <a:pt x="0" y="13467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948168" y="394315"/>
            <a:ext cx="12089150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Business Context &amp; Problem Statement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872141" y="3074379"/>
            <a:ext cx="14485662" cy="5662186"/>
            <a:chOff x="0" y="0"/>
            <a:chExt cx="4082093" cy="159561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82093" cy="1595617"/>
            </a:xfrm>
            <a:custGeom>
              <a:avLst/>
              <a:gdLst/>
              <a:ahLst/>
              <a:cxnLst/>
              <a:rect l="l" t="t" r="r" b="b"/>
              <a:pathLst>
                <a:path w="4082093" h="1595617">
                  <a:moveTo>
                    <a:pt x="8551" y="0"/>
                  </a:moveTo>
                  <a:lnTo>
                    <a:pt x="4073542" y="0"/>
                  </a:lnTo>
                  <a:cubicBezTo>
                    <a:pt x="4075810" y="0"/>
                    <a:pt x="4077985" y="901"/>
                    <a:pt x="4079589" y="2505"/>
                  </a:cubicBezTo>
                  <a:cubicBezTo>
                    <a:pt x="4081192" y="4108"/>
                    <a:pt x="4082093" y="6283"/>
                    <a:pt x="4082093" y="8551"/>
                  </a:cubicBezTo>
                  <a:lnTo>
                    <a:pt x="4082093" y="1587066"/>
                  </a:lnTo>
                  <a:cubicBezTo>
                    <a:pt x="4082093" y="1589334"/>
                    <a:pt x="4081192" y="1591509"/>
                    <a:pt x="4079589" y="1593113"/>
                  </a:cubicBezTo>
                  <a:cubicBezTo>
                    <a:pt x="4077985" y="1594716"/>
                    <a:pt x="4075810" y="1595617"/>
                    <a:pt x="4073542" y="1595617"/>
                  </a:cubicBezTo>
                  <a:lnTo>
                    <a:pt x="8551" y="1595617"/>
                  </a:lnTo>
                  <a:cubicBezTo>
                    <a:pt x="6283" y="1595617"/>
                    <a:pt x="4108" y="1594716"/>
                    <a:pt x="2505" y="1593113"/>
                  </a:cubicBezTo>
                  <a:cubicBezTo>
                    <a:pt x="901" y="1591509"/>
                    <a:pt x="0" y="1589334"/>
                    <a:pt x="0" y="1587066"/>
                  </a:cubicBezTo>
                  <a:lnTo>
                    <a:pt x="0" y="8551"/>
                  </a:lnTo>
                  <a:cubicBezTo>
                    <a:pt x="0" y="6283"/>
                    <a:pt x="901" y="4108"/>
                    <a:pt x="2505" y="2505"/>
                  </a:cubicBezTo>
                  <a:cubicBezTo>
                    <a:pt x="4108" y="901"/>
                    <a:pt x="6283" y="0"/>
                    <a:pt x="8551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66675"/>
              <a:ext cx="4082093" cy="152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117"/>
                </a:lnSpc>
              </a:pPr>
              <a:r>
                <a:rPr lang="en-US" sz="3246" b="1">
                  <a:solidFill>
                    <a:srgbClr val="000000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Business Context:</a:t>
              </a:r>
            </a:p>
            <a:p>
              <a:pPr algn="l">
                <a:lnSpc>
                  <a:spcPts val="3117"/>
                </a:lnSpc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Hospitals operate with multiple interconnected processes such as patient registration, appointment scheduling, doctor allocation, treatment delivery, and billing.</a:t>
              </a:r>
            </a:p>
            <a:p>
              <a:pPr algn="l">
                <a:lnSpc>
                  <a:spcPts val="3117"/>
                </a:lnSpc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Each of these processes generates structured data, but without proper analysis:</a:t>
              </a:r>
            </a:p>
            <a:p>
              <a:pPr marL="701017" lvl="1" indent="-350509" algn="l">
                <a:lnSpc>
                  <a:spcPts val="3117"/>
                </a:lnSpc>
                <a:buFont typeface="Arial"/>
                <a:buChar char="•"/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Patient wait times increase</a:t>
              </a:r>
            </a:p>
            <a:p>
              <a:pPr marL="701017" lvl="1" indent="-350509" algn="l">
                <a:lnSpc>
                  <a:spcPts val="3117"/>
                </a:lnSpc>
                <a:buFont typeface="Arial"/>
                <a:buChar char="•"/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Doctors may be overworked or underutilized</a:t>
              </a:r>
            </a:p>
            <a:p>
              <a:pPr marL="701017" lvl="1" indent="-350509" algn="l">
                <a:lnSpc>
                  <a:spcPts val="3117"/>
                </a:lnSpc>
                <a:buFont typeface="Arial"/>
                <a:buChar char="•"/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Revenue leakages go unnoticed</a:t>
              </a:r>
            </a:p>
            <a:p>
              <a:pPr marL="701017" lvl="1" indent="-350509" algn="l">
                <a:lnSpc>
                  <a:spcPts val="3117"/>
                </a:lnSpc>
                <a:buFont typeface="Arial"/>
                <a:buChar char="•"/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Operational inefficiencies remain hidden</a:t>
              </a:r>
            </a:p>
            <a:p>
              <a:pPr algn="l">
                <a:lnSpc>
                  <a:spcPts val="3117"/>
                </a:lnSpc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The hospital management wants to use historical data to understand patient flow, doctor performance, treatment demand, and revenue generation to improve operational efficiency and decision-making.</a:t>
              </a:r>
            </a:p>
            <a:p>
              <a:pPr algn="ctr">
                <a:lnSpc>
                  <a:spcPts val="2157"/>
                </a:lnSpc>
              </a:pPr>
              <a:endParaRPr lang="en-US" sz="32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84240" y="-1627189"/>
            <a:ext cx="5208512" cy="4015289"/>
          </a:xfrm>
          <a:custGeom>
            <a:avLst/>
            <a:gdLst/>
            <a:ahLst/>
            <a:cxnLst/>
            <a:rect l="l" t="t" r="r" b="b"/>
            <a:pathLst>
              <a:path w="5208512" h="4015289">
                <a:moveTo>
                  <a:pt x="0" y="0"/>
                </a:moveTo>
                <a:lnTo>
                  <a:pt x="5208512" y="0"/>
                </a:lnTo>
                <a:lnTo>
                  <a:pt x="5208512" y="4015289"/>
                </a:lnTo>
                <a:lnTo>
                  <a:pt x="0" y="4015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563728" y="-1627189"/>
            <a:ext cx="5208512" cy="4015289"/>
          </a:xfrm>
          <a:custGeom>
            <a:avLst/>
            <a:gdLst/>
            <a:ahLst/>
            <a:cxnLst/>
            <a:rect l="l" t="t" r="r" b="b"/>
            <a:pathLst>
              <a:path w="5208512" h="4015289">
                <a:moveTo>
                  <a:pt x="5208512" y="0"/>
                </a:moveTo>
                <a:lnTo>
                  <a:pt x="0" y="0"/>
                </a:lnTo>
                <a:lnTo>
                  <a:pt x="0" y="4015289"/>
                </a:lnTo>
                <a:lnTo>
                  <a:pt x="5208512" y="4015289"/>
                </a:lnTo>
                <a:lnTo>
                  <a:pt x="52085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1652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96504" y="2645275"/>
            <a:ext cx="3322001" cy="890344"/>
            <a:chOff x="0" y="0"/>
            <a:chExt cx="936148" cy="2509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6148" cy="250901"/>
            </a:xfrm>
            <a:custGeom>
              <a:avLst/>
              <a:gdLst/>
              <a:ahLst/>
              <a:cxnLst/>
              <a:rect l="l" t="t" r="r" b="b"/>
              <a:pathLst>
                <a:path w="936148" h="250901">
                  <a:moveTo>
                    <a:pt x="37288" y="0"/>
                  </a:moveTo>
                  <a:lnTo>
                    <a:pt x="898860" y="0"/>
                  </a:lnTo>
                  <a:cubicBezTo>
                    <a:pt x="908749" y="0"/>
                    <a:pt x="918233" y="3929"/>
                    <a:pt x="925226" y="10921"/>
                  </a:cubicBezTo>
                  <a:cubicBezTo>
                    <a:pt x="932219" y="17914"/>
                    <a:pt x="936148" y="27399"/>
                    <a:pt x="936148" y="37288"/>
                  </a:cubicBezTo>
                  <a:lnTo>
                    <a:pt x="936148" y="213613"/>
                  </a:lnTo>
                  <a:cubicBezTo>
                    <a:pt x="936148" y="223502"/>
                    <a:pt x="932219" y="232987"/>
                    <a:pt x="925226" y="239980"/>
                  </a:cubicBezTo>
                  <a:cubicBezTo>
                    <a:pt x="918233" y="246973"/>
                    <a:pt x="908749" y="250901"/>
                    <a:pt x="898860" y="250901"/>
                  </a:cubicBezTo>
                  <a:lnTo>
                    <a:pt x="37288" y="250901"/>
                  </a:lnTo>
                  <a:cubicBezTo>
                    <a:pt x="27399" y="250901"/>
                    <a:pt x="17914" y="246973"/>
                    <a:pt x="10921" y="239980"/>
                  </a:cubicBezTo>
                  <a:cubicBezTo>
                    <a:pt x="3929" y="232987"/>
                    <a:pt x="0" y="223502"/>
                    <a:pt x="0" y="213613"/>
                  </a:cubicBezTo>
                  <a:lnTo>
                    <a:pt x="0" y="37288"/>
                  </a:lnTo>
                  <a:cubicBezTo>
                    <a:pt x="0" y="27399"/>
                    <a:pt x="3929" y="17914"/>
                    <a:pt x="10921" y="10921"/>
                  </a:cubicBezTo>
                  <a:cubicBezTo>
                    <a:pt x="17914" y="3929"/>
                    <a:pt x="27399" y="0"/>
                    <a:pt x="37288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936148" cy="193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62502" y="2645275"/>
            <a:ext cx="3322001" cy="890344"/>
            <a:chOff x="0" y="0"/>
            <a:chExt cx="936148" cy="2509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6148" cy="250901"/>
            </a:xfrm>
            <a:custGeom>
              <a:avLst/>
              <a:gdLst/>
              <a:ahLst/>
              <a:cxnLst/>
              <a:rect l="l" t="t" r="r" b="b"/>
              <a:pathLst>
                <a:path w="936148" h="250901">
                  <a:moveTo>
                    <a:pt x="37288" y="0"/>
                  </a:moveTo>
                  <a:lnTo>
                    <a:pt x="898860" y="0"/>
                  </a:lnTo>
                  <a:cubicBezTo>
                    <a:pt x="908749" y="0"/>
                    <a:pt x="918233" y="3929"/>
                    <a:pt x="925226" y="10921"/>
                  </a:cubicBezTo>
                  <a:cubicBezTo>
                    <a:pt x="932219" y="17914"/>
                    <a:pt x="936148" y="27399"/>
                    <a:pt x="936148" y="37288"/>
                  </a:cubicBezTo>
                  <a:lnTo>
                    <a:pt x="936148" y="213613"/>
                  </a:lnTo>
                  <a:cubicBezTo>
                    <a:pt x="936148" y="223502"/>
                    <a:pt x="932219" y="232987"/>
                    <a:pt x="925226" y="239980"/>
                  </a:cubicBezTo>
                  <a:cubicBezTo>
                    <a:pt x="918233" y="246973"/>
                    <a:pt x="908749" y="250901"/>
                    <a:pt x="898860" y="250901"/>
                  </a:cubicBezTo>
                  <a:lnTo>
                    <a:pt x="37288" y="250901"/>
                  </a:lnTo>
                  <a:cubicBezTo>
                    <a:pt x="27399" y="250901"/>
                    <a:pt x="17914" y="246973"/>
                    <a:pt x="10921" y="239980"/>
                  </a:cubicBezTo>
                  <a:cubicBezTo>
                    <a:pt x="3929" y="232987"/>
                    <a:pt x="0" y="223502"/>
                    <a:pt x="0" y="213613"/>
                  </a:cubicBezTo>
                  <a:lnTo>
                    <a:pt x="0" y="37288"/>
                  </a:lnTo>
                  <a:cubicBezTo>
                    <a:pt x="0" y="27399"/>
                    <a:pt x="3929" y="17914"/>
                    <a:pt x="10921" y="10921"/>
                  </a:cubicBezTo>
                  <a:cubicBezTo>
                    <a:pt x="17914" y="3929"/>
                    <a:pt x="27399" y="0"/>
                    <a:pt x="37288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936148" cy="193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374060" y="5414029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0" y="0"/>
                </a:moveTo>
                <a:lnTo>
                  <a:pt x="1098886" y="0"/>
                </a:lnTo>
                <a:lnTo>
                  <a:pt x="1098886" y="1084016"/>
                </a:lnTo>
                <a:lnTo>
                  <a:pt x="0" y="10840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028700" y="8174284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1098886" y="0"/>
                </a:moveTo>
                <a:lnTo>
                  <a:pt x="0" y="0"/>
                </a:lnTo>
                <a:lnTo>
                  <a:pt x="0" y="1084016"/>
                </a:lnTo>
                <a:lnTo>
                  <a:pt x="1098886" y="1084016"/>
                </a:lnTo>
                <a:lnTo>
                  <a:pt x="10988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78143" y="4346156"/>
            <a:ext cx="1507224" cy="1455156"/>
          </a:xfrm>
          <a:custGeom>
            <a:avLst/>
            <a:gdLst/>
            <a:ahLst/>
            <a:cxnLst/>
            <a:rect l="l" t="t" r="r" b="b"/>
            <a:pathLst>
              <a:path w="1507224" h="1455156">
                <a:moveTo>
                  <a:pt x="0" y="0"/>
                </a:moveTo>
                <a:lnTo>
                  <a:pt x="1507224" y="0"/>
                </a:lnTo>
                <a:lnTo>
                  <a:pt x="1507224" y="1455156"/>
                </a:lnTo>
                <a:lnTo>
                  <a:pt x="0" y="14551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86742" y="513805"/>
            <a:ext cx="7985892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Business Context &amp; Problem Statement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211525" y="2645275"/>
            <a:ext cx="11883472" cy="5662186"/>
            <a:chOff x="0" y="0"/>
            <a:chExt cx="3348790" cy="159561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348790" cy="1595617"/>
            </a:xfrm>
            <a:custGeom>
              <a:avLst/>
              <a:gdLst/>
              <a:ahLst/>
              <a:cxnLst/>
              <a:rect l="l" t="t" r="r" b="b"/>
              <a:pathLst>
                <a:path w="3348790" h="1595617">
                  <a:moveTo>
                    <a:pt x="10424" y="0"/>
                  </a:moveTo>
                  <a:lnTo>
                    <a:pt x="3338366" y="0"/>
                  </a:lnTo>
                  <a:cubicBezTo>
                    <a:pt x="3341131" y="0"/>
                    <a:pt x="3343782" y="1098"/>
                    <a:pt x="3345737" y="3053"/>
                  </a:cubicBezTo>
                  <a:cubicBezTo>
                    <a:pt x="3347692" y="5008"/>
                    <a:pt x="3348790" y="7659"/>
                    <a:pt x="3348790" y="10424"/>
                  </a:cubicBezTo>
                  <a:lnTo>
                    <a:pt x="3348790" y="1585193"/>
                  </a:lnTo>
                  <a:cubicBezTo>
                    <a:pt x="3348790" y="1587958"/>
                    <a:pt x="3347692" y="1590609"/>
                    <a:pt x="3345737" y="1592564"/>
                  </a:cubicBezTo>
                  <a:cubicBezTo>
                    <a:pt x="3343782" y="1594519"/>
                    <a:pt x="3341131" y="1595617"/>
                    <a:pt x="3338366" y="1595617"/>
                  </a:cubicBezTo>
                  <a:lnTo>
                    <a:pt x="10424" y="1595617"/>
                  </a:lnTo>
                  <a:cubicBezTo>
                    <a:pt x="4667" y="1595617"/>
                    <a:pt x="0" y="1590950"/>
                    <a:pt x="0" y="1585193"/>
                  </a:cubicBezTo>
                  <a:lnTo>
                    <a:pt x="0" y="10424"/>
                  </a:lnTo>
                  <a:cubicBezTo>
                    <a:pt x="0" y="7659"/>
                    <a:pt x="1098" y="5008"/>
                    <a:pt x="3053" y="3053"/>
                  </a:cubicBezTo>
                  <a:cubicBezTo>
                    <a:pt x="5008" y="1098"/>
                    <a:pt x="7659" y="0"/>
                    <a:pt x="10424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66675"/>
              <a:ext cx="3348790" cy="1528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117"/>
                </a:lnSpc>
              </a:pPr>
              <a:r>
                <a:rPr lang="en-US" sz="3246" b="1">
                  <a:solidFill>
                    <a:srgbClr val="000000"/>
                  </a:solidFill>
                  <a:latin typeface="TT Norms Bold"/>
                  <a:ea typeface="TT Norms Bold"/>
                  <a:cs typeface="TT Norms Bold"/>
                  <a:sym typeface="TT Norms Bold"/>
                </a:rPr>
                <a:t>Problem Statement:</a:t>
              </a:r>
            </a:p>
            <a:p>
              <a:pPr algn="just">
                <a:lnSpc>
                  <a:spcPts val="3117"/>
                </a:lnSpc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The objective of this project is to analyze hospital operational data using SQL to:</a:t>
              </a:r>
            </a:p>
            <a:p>
              <a:pPr marL="701017" lvl="1" indent="-350509" algn="just">
                <a:lnSpc>
                  <a:spcPts val="3117"/>
                </a:lnSpc>
                <a:buFont typeface="Arial"/>
                <a:buChar char="•"/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Understand patient visit and treatment patterns</a:t>
              </a:r>
            </a:p>
            <a:p>
              <a:pPr marL="701017" lvl="1" indent="-350509" algn="just">
                <a:lnSpc>
                  <a:spcPts val="3117"/>
                </a:lnSpc>
                <a:buFont typeface="Arial"/>
                <a:buChar char="•"/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Evaluate doctor utilization and workload distribution</a:t>
              </a:r>
            </a:p>
            <a:p>
              <a:pPr marL="701017" lvl="1" indent="-350509" algn="just">
                <a:lnSpc>
                  <a:spcPts val="3117"/>
                </a:lnSpc>
                <a:buFont typeface="Arial"/>
                <a:buChar char="•"/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Identify high-demand treatments and revenue drivers</a:t>
              </a:r>
            </a:p>
            <a:p>
              <a:pPr marL="701017" lvl="1" indent="-350509" algn="just">
                <a:lnSpc>
                  <a:spcPts val="3117"/>
                </a:lnSpc>
                <a:buFont typeface="Arial"/>
                <a:buChar char="•"/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Detect inefficiencies in appointments and billing processes</a:t>
              </a:r>
            </a:p>
            <a:p>
              <a:pPr marL="701017" lvl="1" indent="-350509" algn="just">
                <a:lnSpc>
                  <a:spcPts val="3117"/>
                </a:lnSpc>
                <a:buFont typeface="Arial"/>
                <a:buChar char="•"/>
              </a:pPr>
              <a:r>
                <a:rPr lang="en-US" sz="3246">
                  <a:solidFill>
                    <a:srgbClr val="000000"/>
                  </a:solidFill>
                  <a:latin typeface="TT Norms"/>
                  <a:ea typeface="TT Norms"/>
                  <a:cs typeface="TT Norms"/>
                  <a:sym typeface="TT Norms"/>
                </a:rPr>
                <a:t>The analysis aims to convert raw hospital data into actionable insights that can support better scheduling, resource allocation, and financial planning.</a:t>
              </a:r>
            </a:p>
            <a:p>
              <a:pPr algn="just">
                <a:lnSpc>
                  <a:spcPts val="3117"/>
                </a:lnSpc>
              </a:pPr>
              <a:endParaRPr lang="en-US" sz="32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1060016" y="2300949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1098886" y="0"/>
                </a:moveTo>
                <a:lnTo>
                  <a:pt x="0" y="0"/>
                </a:lnTo>
                <a:lnTo>
                  <a:pt x="0" y="1084017"/>
                </a:lnTo>
                <a:lnTo>
                  <a:pt x="1098886" y="1084017"/>
                </a:lnTo>
                <a:lnTo>
                  <a:pt x="10988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16168" y="330011"/>
            <a:ext cx="2443964" cy="3054955"/>
          </a:xfrm>
          <a:custGeom>
            <a:avLst/>
            <a:gdLst/>
            <a:ahLst/>
            <a:cxnLst/>
            <a:rect l="l" t="t" r="r" b="b"/>
            <a:pathLst>
              <a:path w="2443964" h="3054955">
                <a:moveTo>
                  <a:pt x="0" y="0"/>
                </a:moveTo>
                <a:lnTo>
                  <a:pt x="2443964" y="0"/>
                </a:lnTo>
                <a:lnTo>
                  <a:pt x="2443964" y="3054955"/>
                </a:lnTo>
                <a:lnTo>
                  <a:pt x="0" y="30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407905" y="7198208"/>
            <a:ext cx="1501994" cy="2060092"/>
          </a:xfrm>
          <a:custGeom>
            <a:avLst/>
            <a:gdLst/>
            <a:ahLst/>
            <a:cxnLst/>
            <a:rect l="l" t="t" r="r" b="b"/>
            <a:pathLst>
              <a:path w="1501994" h="2060092">
                <a:moveTo>
                  <a:pt x="0" y="0"/>
                </a:moveTo>
                <a:lnTo>
                  <a:pt x="1501994" y="0"/>
                </a:lnTo>
                <a:lnTo>
                  <a:pt x="1501994" y="2060092"/>
                </a:lnTo>
                <a:lnTo>
                  <a:pt x="0" y="20600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34327" y="644832"/>
            <a:ext cx="6491796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Dataset Overview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00719" y="1928133"/>
            <a:ext cx="14490780" cy="878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The dataset represents a simplified Hospital Management System consisting of five core tables that capture patient care and hospital operations.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337341"/>
            <a:ext cx="4384804" cy="490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5"/>
              </a:lnSpc>
              <a:spcBef>
                <a:spcPct val="0"/>
              </a:spcBef>
            </a:pPr>
            <a:r>
              <a:rPr lang="en-US" sz="254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1. Patients Table:</a:t>
            </a:r>
          </a:p>
          <a:p>
            <a:pPr marL="549891" lvl="1" indent="-274945" algn="l">
              <a:lnSpc>
                <a:spcPts val="3565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Stores demographic and identity information of patients</a:t>
            </a:r>
          </a:p>
          <a:p>
            <a:pPr marL="549891" lvl="1" indent="-274945" algn="l">
              <a:lnSpc>
                <a:spcPts val="3565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Each patient is uniquely identified</a:t>
            </a:r>
          </a:p>
          <a:p>
            <a:pPr marL="549891" lvl="1" indent="-274945" algn="l">
              <a:lnSpc>
                <a:spcPts val="3565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Forms the base entity for appointments and treatments</a:t>
            </a:r>
          </a:p>
          <a:p>
            <a:pPr algn="l">
              <a:lnSpc>
                <a:spcPts val="3565"/>
              </a:lnSpc>
            </a:pPr>
            <a:r>
              <a:rPr lang="en-US" sz="254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concepts:</a:t>
            </a: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 patient history, repeat visits, demographics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21348" y="3337341"/>
            <a:ext cx="4188111" cy="445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5"/>
              </a:lnSpc>
              <a:spcBef>
                <a:spcPct val="0"/>
              </a:spcBef>
            </a:pPr>
            <a:r>
              <a:rPr lang="en-US" sz="254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2. Doctors Table:</a:t>
            </a:r>
          </a:p>
          <a:p>
            <a:pPr marL="549891" lvl="1" indent="-274945" algn="l">
              <a:lnSpc>
                <a:spcPts val="3565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Contains doctor details and specializations</a:t>
            </a:r>
          </a:p>
          <a:p>
            <a:pPr marL="549891" lvl="1" indent="-274945" algn="l">
              <a:lnSpc>
                <a:spcPts val="3565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Used to analyze workload, specialization demand, and performance</a:t>
            </a:r>
          </a:p>
          <a:p>
            <a:pPr algn="l">
              <a:lnSpc>
                <a:spcPts val="3565"/>
              </a:lnSpc>
              <a:spcBef>
                <a:spcPct val="0"/>
              </a:spcBef>
            </a:pPr>
            <a:r>
              <a:rPr lang="en-US" sz="254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concepts:</a:t>
            </a: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 doctor utilization, department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106607" y="3337341"/>
            <a:ext cx="4219123" cy="4012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5"/>
              </a:lnSpc>
              <a:spcBef>
                <a:spcPct val="0"/>
              </a:spcBef>
            </a:pPr>
            <a:r>
              <a:rPr lang="en-US" sz="254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3. Appointments Table:</a:t>
            </a:r>
          </a:p>
          <a:p>
            <a:pPr marL="549891" lvl="1" indent="-274945" algn="l">
              <a:lnSpc>
                <a:spcPts val="3565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Captures scheduled visits between patients and doctors</a:t>
            </a:r>
          </a:p>
          <a:p>
            <a:pPr marL="549891" lvl="1" indent="-274945" algn="l">
              <a:lnSpc>
                <a:spcPts val="3565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Includes appointment dates and status</a:t>
            </a:r>
          </a:p>
          <a:p>
            <a:pPr algn="l">
              <a:lnSpc>
                <a:spcPts val="3565"/>
              </a:lnSpc>
              <a:spcBef>
                <a:spcPct val="0"/>
              </a:spcBef>
            </a:pPr>
            <a:r>
              <a:rPr lang="en-US" sz="254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concepts:</a:t>
            </a: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 patient flow, appointment completion, scheduling efficiency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28099"/>
            <a:ext cx="2164303" cy="2424372"/>
          </a:xfrm>
          <a:custGeom>
            <a:avLst/>
            <a:gdLst/>
            <a:ahLst/>
            <a:cxnLst/>
            <a:rect l="l" t="t" r="r" b="b"/>
            <a:pathLst>
              <a:path w="2164303" h="2424372">
                <a:moveTo>
                  <a:pt x="0" y="0"/>
                </a:moveTo>
                <a:lnTo>
                  <a:pt x="2164303" y="0"/>
                </a:lnTo>
                <a:lnTo>
                  <a:pt x="2164303" y="2424372"/>
                </a:lnTo>
                <a:lnTo>
                  <a:pt x="0" y="2424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04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97325" y="752846"/>
            <a:ext cx="7152271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Dataset Overview</a:t>
            </a:r>
          </a:p>
        </p:txBody>
      </p:sp>
      <p:sp>
        <p:nvSpPr>
          <p:cNvPr id="9" name="Freeform 9"/>
          <p:cNvSpPr/>
          <p:nvPr/>
        </p:nvSpPr>
        <p:spPr>
          <a:xfrm>
            <a:off x="9473460" y="2268278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461604" y="8788644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042177" y="3814579"/>
            <a:ext cx="4369131" cy="4012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5"/>
              </a:lnSpc>
              <a:spcBef>
                <a:spcPct val="0"/>
              </a:spcBef>
            </a:pPr>
            <a:r>
              <a:rPr lang="en-US" sz="254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4. Treatments Table:</a:t>
            </a:r>
          </a:p>
          <a:p>
            <a:pPr marL="549891" lvl="1" indent="-274945" algn="l">
              <a:lnSpc>
                <a:spcPts val="3565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Records treatments provided during appointments</a:t>
            </a:r>
          </a:p>
          <a:p>
            <a:pPr marL="549891" lvl="1" indent="-274945" algn="l">
              <a:lnSpc>
                <a:spcPts val="3565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Links medical services to patients and doctors</a:t>
            </a:r>
          </a:p>
          <a:p>
            <a:pPr algn="l">
              <a:lnSpc>
                <a:spcPts val="3565"/>
              </a:lnSpc>
            </a:pPr>
            <a:r>
              <a:rPr lang="en-US" sz="254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concepts:</a:t>
            </a: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 treatment frequency, service demand, clinical workload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80203" y="3814579"/>
            <a:ext cx="4081658" cy="4012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5"/>
              </a:lnSpc>
              <a:spcBef>
                <a:spcPct val="0"/>
              </a:spcBef>
            </a:pPr>
            <a:r>
              <a:rPr lang="en-US" sz="254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5. Billing Table:</a:t>
            </a:r>
          </a:p>
          <a:p>
            <a:pPr marL="549891" lvl="1" indent="-274945" algn="l">
              <a:lnSpc>
                <a:spcPts val="3565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Contains financial records related to treatments</a:t>
            </a:r>
          </a:p>
          <a:p>
            <a:pPr marL="549891" lvl="1" indent="-274945" algn="l">
              <a:lnSpc>
                <a:spcPts val="3565"/>
              </a:lnSpc>
              <a:buFont typeface="Arial"/>
              <a:buChar char="•"/>
            </a:pP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Tracks billed amounts and payment status</a:t>
            </a:r>
          </a:p>
          <a:p>
            <a:pPr algn="l">
              <a:lnSpc>
                <a:spcPts val="3565"/>
              </a:lnSpc>
              <a:spcBef>
                <a:spcPct val="0"/>
              </a:spcBef>
            </a:pPr>
            <a:r>
              <a:rPr lang="en-US" sz="2546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Key concepts:</a:t>
            </a:r>
            <a:r>
              <a:rPr lang="en-US" sz="2546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 revenue analysis, unpaid bills, financial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92612" y="1661255"/>
            <a:ext cx="1211969" cy="1195569"/>
          </a:xfrm>
          <a:custGeom>
            <a:avLst/>
            <a:gdLst/>
            <a:ahLst/>
            <a:cxnLst/>
            <a:rect l="l" t="t" r="r" b="b"/>
            <a:pathLst>
              <a:path w="1211969" h="1195569">
                <a:moveTo>
                  <a:pt x="0" y="0"/>
                </a:moveTo>
                <a:lnTo>
                  <a:pt x="1211969" y="0"/>
                </a:lnTo>
                <a:lnTo>
                  <a:pt x="1211969" y="1195569"/>
                </a:lnTo>
                <a:lnTo>
                  <a:pt x="0" y="11955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984777" y="7032029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1028700"/>
            <a:ext cx="1027151" cy="1013252"/>
          </a:xfrm>
          <a:custGeom>
            <a:avLst/>
            <a:gdLst/>
            <a:ahLst/>
            <a:cxnLst/>
            <a:rect l="l" t="t" r="r" b="b"/>
            <a:pathLst>
              <a:path w="1027151" h="1013252">
                <a:moveTo>
                  <a:pt x="0" y="0"/>
                </a:moveTo>
                <a:lnTo>
                  <a:pt x="1027151" y="0"/>
                </a:lnTo>
                <a:lnTo>
                  <a:pt x="1027151" y="1013252"/>
                </a:lnTo>
                <a:lnTo>
                  <a:pt x="0" y="1013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689513" y="4294077"/>
            <a:ext cx="3326016" cy="3326016"/>
          </a:xfrm>
          <a:custGeom>
            <a:avLst/>
            <a:gdLst/>
            <a:ahLst/>
            <a:cxnLst/>
            <a:rect l="l" t="t" r="r" b="b"/>
            <a:pathLst>
              <a:path w="3326016" h="3326016">
                <a:moveTo>
                  <a:pt x="0" y="0"/>
                </a:moveTo>
                <a:lnTo>
                  <a:pt x="3326016" y="0"/>
                </a:lnTo>
                <a:lnTo>
                  <a:pt x="3326016" y="3326016"/>
                </a:lnTo>
                <a:lnTo>
                  <a:pt x="0" y="33260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928049" y="8433789"/>
            <a:ext cx="4431903" cy="1536362"/>
          </a:xfrm>
          <a:custGeom>
            <a:avLst/>
            <a:gdLst/>
            <a:ahLst/>
            <a:cxnLst/>
            <a:rect l="l" t="t" r="r" b="b"/>
            <a:pathLst>
              <a:path w="4431903" h="1536362">
                <a:moveTo>
                  <a:pt x="0" y="0"/>
                </a:moveTo>
                <a:lnTo>
                  <a:pt x="4431902" y="0"/>
                </a:lnTo>
                <a:lnTo>
                  <a:pt x="4431902" y="1536362"/>
                </a:lnTo>
                <a:lnTo>
                  <a:pt x="0" y="1536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862744" y="2278744"/>
            <a:ext cx="8590179" cy="5852059"/>
          </a:xfrm>
          <a:custGeom>
            <a:avLst/>
            <a:gdLst/>
            <a:ahLst/>
            <a:cxnLst/>
            <a:rect l="l" t="t" r="r" b="b"/>
            <a:pathLst>
              <a:path w="8590179" h="5852059">
                <a:moveTo>
                  <a:pt x="0" y="0"/>
                </a:moveTo>
                <a:lnTo>
                  <a:pt x="8590179" y="0"/>
                </a:lnTo>
                <a:lnTo>
                  <a:pt x="8590179" y="5852059"/>
                </a:lnTo>
                <a:lnTo>
                  <a:pt x="0" y="58520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05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67864" y="715883"/>
            <a:ext cx="7152271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ER Diagram</a:t>
            </a:r>
          </a:p>
        </p:txBody>
      </p:sp>
      <p:sp>
        <p:nvSpPr>
          <p:cNvPr id="13" name="Freeform 13"/>
          <p:cNvSpPr/>
          <p:nvPr/>
        </p:nvSpPr>
        <p:spPr>
          <a:xfrm>
            <a:off x="899655" y="4294077"/>
            <a:ext cx="3043793" cy="2906823"/>
          </a:xfrm>
          <a:custGeom>
            <a:avLst/>
            <a:gdLst/>
            <a:ahLst/>
            <a:cxnLst/>
            <a:rect l="l" t="t" r="r" b="b"/>
            <a:pathLst>
              <a:path w="3043793" h="2906823">
                <a:moveTo>
                  <a:pt x="0" y="0"/>
                </a:moveTo>
                <a:lnTo>
                  <a:pt x="3043794" y="0"/>
                </a:lnTo>
                <a:lnTo>
                  <a:pt x="3043794" y="2906823"/>
                </a:lnTo>
                <a:lnTo>
                  <a:pt x="0" y="290682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1307" y="-1574531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5" y="0"/>
                </a:lnTo>
                <a:lnTo>
                  <a:pt x="6026955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270627" y="-1659817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6026955" y="0"/>
                </a:moveTo>
                <a:lnTo>
                  <a:pt x="0" y="0"/>
                </a:lnTo>
                <a:lnTo>
                  <a:pt x="0" y="4646234"/>
                </a:lnTo>
                <a:lnTo>
                  <a:pt x="6026955" y="4646234"/>
                </a:lnTo>
                <a:lnTo>
                  <a:pt x="60269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522487" y="6773198"/>
            <a:ext cx="2356988" cy="2284136"/>
          </a:xfrm>
          <a:custGeom>
            <a:avLst/>
            <a:gdLst/>
            <a:ahLst/>
            <a:cxnLst/>
            <a:rect l="l" t="t" r="r" b="b"/>
            <a:pathLst>
              <a:path w="2356988" h="2284136">
                <a:moveTo>
                  <a:pt x="0" y="0"/>
                </a:moveTo>
                <a:lnTo>
                  <a:pt x="2356988" y="0"/>
                </a:lnTo>
                <a:lnTo>
                  <a:pt x="2356988" y="2284136"/>
                </a:lnTo>
                <a:lnTo>
                  <a:pt x="0" y="2284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094997" y="3429920"/>
            <a:ext cx="1211969" cy="1195569"/>
          </a:xfrm>
          <a:custGeom>
            <a:avLst/>
            <a:gdLst/>
            <a:ahLst/>
            <a:cxnLst/>
            <a:rect l="l" t="t" r="r" b="b"/>
            <a:pathLst>
              <a:path w="1211969" h="1195569">
                <a:moveTo>
                  <a:pt x="0" y="0"/>
                </a:moveTo>
                <a:lnTo>
                  <a:pt x="1211969" y="0"/>
                </a:lnTo>
                <a:lnTo>
                  <a:pt x="1211969" y="1195568"/>
                </a:lnTo>
                <a:lnTo>
                  <a:pt x="0" y="11955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72170" y="3805255"/>
            <a:ext cx="5593418" cy="2081272"/>
          </a:xfrm>
          <a:custGeom>
            <a:avLst/>
            <a:gdLst/>
            <a:ahLst/>
            <a:cxnLst/>
            <a:rect l="l" t="t" r="r" b="b"/>
            <a:pathLst>
              <a:path w="5593418" h="2081272">
                <a:moveTo>
                  <a:pt x="0" y="0"/>
                </a:moveTo>
                <a:lnTo>
                  <a:pt x="5593419" y="0"/>
                </a:lnTo>
                <a:lnTo>
                  <a:pt x="5593419" y="2081272"/>
                </a:lnTo>
                <a:lnTo>
                  <a:pt x="0" y="20812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193493" y="3805255"/>
            <a:ext cx="5312488" cy="2213536"/>
          </a:xfrm>
          <a:custGeom>
            <a:avLst/>
            <a:gdLst/>
            <a:ahLst/>
            <a:cxnLst/>
            <a:rect l="l" t="t" r="r" b="b"/>
            <a:pathLst>
              <a:path w="5312488" h="2213536">
                <a:moveTo>
                  <a:pt x="0" y="0"/>
                </a:moveTo>
                <a:lnTo>
                  <a:pt x="5312487" y="0"/>
                </a:lnTo>
                <a:lnTo>
                  <a:pt x="5312487" y="2213536"/>
                </a:lnTo>
                <a:lnTo>
                  <a:pt x="0" y="221353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95587" y="6927493"/>
            <a:ext cx="5570002" cy="1871172"/>
          </a:xfrm>
          <a:custGeom>
            <a:avLst/>
            <a:gdLst/>
            <a:ahLst/>
            <a:cxnLst/>
            <a:rect l="l" t="t" r="r" b="b"/>
            <a:pathLst>
              <a:path w="5570002" h="1871172">
                <a:moveTo>
                  <a:pt x="0" y="0"/>
                </a:moveTo>
                <a:lnTo>
                  <a:pt x="5570002" y="0"/>
                </a:lnTo>
                <a:lnTo>
                  <a:pt x="5570002" y="1871173"/>
                </a:lnTo>
                <a:lnTo>
                  <a:pt x="0" y="187117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153847" y="6858923"/>
            <a:ext cx="5352134" cy="2003619"/>
          </a:xfrm>
          <a:custGeom>
            <a:avLst/>
            <a:gdLst/>
            <a:ahLst/>
            <a:cxnLst/>
            <a:rect l="l" t="t" r="r" b="b"/>
            <a:pathLst>
              <a:path w="5352134" h="2003619">
                <a:moveTo>
                  <a:pt x="0" y="0"/>
                </a:moveTo>
                <a:lnTo>
                  <a:pt x="5352133" y="0"/>
                </a:lnTo>
                <a:lnTo>
                  <a:pt x="5352133" y="2003619"/>
                </a:lnTo>
                <a:lnTo>
                  <a:pt x="0" y="20036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5149941" y="728271"/>
            <a:ext cx="8015787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Different Tables Structure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5587" y="3190804"/>
            <a:ext cx="3552613" cy="444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546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describe appointments;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93493" y="3190804"/>
            <a:ext cx="2626907" cy="444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546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describe doctors;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2170" y="6342591"/>
            <a:ext cx="3070025" cy="444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546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describe treatments;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53847" y="6342591"/>
            <a:ext cx="2356988" cy="444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546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describe billing;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28099"/>
            <a:ext cx="2164303" cy="2424372"/>
          </a:xfrm>
          <a:custGeom>
            <a:avLst/>
            <a:gdLst/>
            <a:ahLst/>
            <a:cxnLst/>
            <a:rect l="l" t="t" r="r" b="b"/>
            <a:pathLst>
              <a:path w="2164303" h="2424372">
                <a:moveTo>
                  <a:pt x="0" y="0"/>
                </a:moveTo>
                <a:lnTo>
                  <a:pt x="2164303" y="0"/>
                </a:lnTo>
                <a:lnTo>
                  <a:pt x="2164303" y="2424372"/>
                </a:lnTo>
                <a:lnTo>
                  <a:pt x="0" y="2424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07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97325" y="394315"/>
            <a:ext cx="7152271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Different Tables Structure</a:t>
            </a:r>
          </a:p>
        </p:txBody>
      </p:sp>
      <p:sp>
        <p:nvSpPr>
          <p:cNvPr id="9" name="Freeform 9"/>
          <p:cNvSpPr/>
          <p:nvPr/>
        </p:nvSpPr>
        <p:spPr>
          <a:xfrm>
            <a:off x="9473460" y="2268278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3461604" y="8788644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5148726" y="4561679"/>
            <a:ext cx="7900869" cy="4226965"/>
          </a:xfrm>
          <a:custGeom>
            <a:avLst/>
            <a:gdLst/>
            <a:ahLst/>
            <a:cxnLst/>
            <a:rect l="l" t="t" r="r" b="b"/>
            <a:pathLst>
              <a:path w="7900869" h="4226965">
                <a:moveTo>
                  <a:pt x="0" y="0"/>
                </a:moveTo>
                <a:lnTo>
                  <a:pt x="7900870" y="0"/>
                </a:lnTo>
                <a:lnTo>
                  <a:pt x="7900870" y="4226965"/>
                </a:lnTo>
                <a:lnTo>
                  <a:pt x="0" y="42269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612376" y="3629074"/>
            <a:ext cx="3208024" cy="444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546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describe patients;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84777" y="-1659817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4270627" y="-1659817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6026955" y="0"/>
                </a:moveTo>
                <a:lnTo>
                  <a:pt x="0" y="0"/>
                </a:lnTo>
                <a:lnTo>
                  <a:pt x="0" y="4646234"/>
                </a:lnTo>
                <a:lnTo>
                  <a:pt x="6026955" y="4646234"/>
                </a:lnTo>
                <a:lnTo>
                  <a:pt x="602695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1652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259300" y="4540777"/>
            <a:ext cx="1221982" cy="1205446"/>
          </a:xfrm>
          <a:custGeom>
            <a:avLst/>
            <a:gdLst/>
            <a:ahLst/>
            <a:cxnLst/>
            <a:rect l="l" t="t" r="r" b="b"/>
            <a:pathLst>
              <a:path w="1221982" h="1205446">
                <a:moveTo>
                  <a:pt x="0" y="0"/>
                </a:moveTo>
                <a:lnTo>
                  <a:pt x="1221982" y="0"/>
                </a:lnTo>
                <a:lnTo>
                  <a:pt x="1221982" y="1205446"/>
                </a:lnTo>
                <a:lnTo>
                  <a:pt x="0" y="12054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34331" y="5696070"/>
            <a:ext cx="1221982" cy="1205446"/>
          </a:xfrm>
          <a:custGeom>
            <a:avLst/>
            <a:gdLst/>
            <a:ahLst/>
            <a:cxnLst/>
            <a:rect l="l" t="t" r="r" b="b"/>
            <a:pathLst>
              <a:path w="1221982" h="1205446">
                <a:moveTo>
                  <a:pt x="0" y="0"/>
                </a:moveTo>
                <a:lnTo>
                  <a:pt x="1221982" y="0"/>
                </a:lnTo>
                <a:lnTo>
                  <a:pt x="1221982" y="1205446"/>
                </a:lnTo>
                <a:lnTo>
                  <a:pt x="0" y="12054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8338" y="4132470"/>
            <a:ext cx="7223206" cy="3117261"/>
          </a:xfrm>
          <a:custGeom>
            <a:avLst/>
            <a:gdLst/>
            <a:ahLst/>
            <a:cxnLst/>
            <a:rect l="l" t="t" r="r" b="b"/>
            <a:pathLst>
              <a:path w="7223206" h="3117261">
                <a:moveTo>
                  <a:pt x="0" y="0"/>
                </a:moveTo>
                <a:lnTo>
                  <a:pt x="7223206" y="0"/>
                </a:lnTo>
                <a:lnTo>
                  <a:pt x="7223206" y="3117261"/>
                </a:lnTo>
                <a:lnTo>
                  <a:pt x="0" y="311726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792857" y="4132470"/>
            <a:ext cx="6575656" cy="3117261"/>
          </a:xfrm>
          <a:custGeom>
            <a:avLst/>
            <a:gdLst/>
            <a:ahLst/>
            <a:cxnLst/>
            <a:rect l="l" t="t" r="r" b="b"/>
            <a:pathLst>
              <a:path w="6575656" h="3117261">
                <a:moveTo>
                  <a:pt x="0" y="0"/>
                </a:moveTo>
                <a:lnTo>
                  <a:pt x="6575657" y="0"/>
                </a:lnTo>
                <a:lnTo>
                  <a:pt x="6575657" y="3117261"/>
                </a:lnTo>
                <a:lnTo>
                  <a:pt x="0" y="311726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08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043034" y="685654"/>
            <a:ext cx="8462037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Table Content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28338" y="3412971"/>
            <a:ext cx="4415262" cy="444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546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* from appointments;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46151" y="3412971"/>
            <a:ext cx="3758920" cy="444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546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* from treatments;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495998">
            <a:off x="12227926" y="1311506"/>
            <a:ext cx="1389288" cy="1389288"/>
          </a:xfrm>
          <a:custGeom>
            <a:avLst/>
            <a:gdLst/>
            <a:ahLst/>
            <a:cxnLst/>
            <a:rect l="l" t="t" r="r" b="b"/>
            <a:pathLst>
              <a:path w="1389288" h="1389288">
                <a:moveTo>
                  <a:pt x="0" y="0"/>
                </a:moveTo>
                <a:lnTo>
                  <a:pt x="1389288" y="0"/>
                </a:lnTo>
                <a:lnTo>
                  <a:pt x="1389288" y="1389288"/>
                </a:lnTo>
                <a:lnTo>
                  <a:pt x="0" y="13892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40444" y="1028700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47767" y="2683168"/>
            <a:ext cx="1312249" cy="1294492"/>
          </a:xfrm>
          <a:custGeom>
            <a:avLst/>
            <a:gdLst/>
            <a:ahLst/>
            <a:cxnLst/>
            <a:rect l="l" t="t" r="r" b="b"/>
            <a:pathLst>
              <a:path w="1312249" h="1294492">
                <a:moveTo>
                  <a:pt x="0" y="0"/>
                </a:moveTo>
                <a:lnTo>
                  <a:pt x="1312249" y="0"/>
                </a:lnTo>
                <a:lnTo>
                  <a:pt x="1312249" y="1294492"/>
                </a:lnTo>
                <a:lnTo>
                  <a:pt x="0" y="12944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3008216"/>
            <a:ext cx="8497962" cy="2383026"/>
          </a:xfrm>
          <a:custGeom>
            <a:avLst/>
            <a:gdLst/>
            <a:ahLst/>
            <a:cxnLst/>
            <a:rect l="l" t="t" r="r" b="b"/>
            <a:pathLst>
              <a:path w="8497962" h="2383026">
                <a:moveTo>
                  <a:pt x="0" y="0"/>
                </a:moveTo>
                <a:lnTo>
                  <a:pt x="8497962" y="0"/>
                </a:lnTo>
                <a:lnTo>
                  <a:pt x="8497962" y="2383026"/>
                </a:lnTo>
                <a:lnTo>
                  <a:pt x="0" y="23830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538370" y="5748061"/>
            <a:ext cx="11301259" cy="2952454"/>
          </a:xfrm>
          <a:custGeom>
            <a:avLst/>
            <a:gdLst/>
            <a:ahLst/>
            <a:cxnLst/>
            <a:rect l="l" t="t" r="r" b="b"/>
            <a:pathLst>
              <a:path w="11301259" h="2952454">
                <a:moveTo>
                  <a:pt x="0" y="0"/>
                </a:moveTo>
                <a:lnTo>
                  <a:pt x="11301259" y="0"/>
                </a:lnTo>
                <a:lnTo>
                  <a:pt x="11301259" y="2952454"/>
                </a:lnTo>
                <a:lnTo>
                  <a:pt x="0" y="29524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09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1508" y="644832"/>
            <a:ext cx="7232651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Table Content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444052"/>
            <a:ext cx="3356084" cy="444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546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* from doctors;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630400" y="4904384"/>
            <a:ext cx="3209229" cy="444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546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* from patients;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84240" y="-1627189"/>
            <a:ext cx="5208512" cy="4015289"/>
          </a:xfrm>
          <a:custGeom>
            <a:avLst/>
            <a:gdLst/>
            <a:ahLst/>
            <a:cxnLst/>
            <a:rect l="l" t="t" r="r" b="b"/>
            <a:pathLst>
              <a:path w="5208512" h="4015289">
                <a:moveTo>
                  <a:pt x="0" y="0"/>
                </a:moveTo>
                <a:lnTo>
                  <a:pt x="5208512" y="0"/>
                </a:lnTo>
                <a:lnTo>
                  <a:pt x="5208512" y="4015289"/>
                </a:lnTo>
                <a:lnTo>
                  <a:pt x="0" y="4015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563728" y="-1627189"/>
            <a:ext cx="5208512" cy="4015289"/>
          </a:xfrm>
          <a:custGeom>
            <a:avLst/>
            <a:gdLst/>
            <a:ahLst/>
            <a:cxnLst/>
            <a:rect l="l" t="t" r="r" b="b"/>
            <a:pathLst>
              <a:path w="5208512" h="4015289">
                <a:moveTo>
                  <a:pt x="5208512" y="0"/>
                </a:moveTo>
                <a:lnTo>
                  <a:pt x="0" y="0"/>
                </a:lnTo>
                <a:lnTo>
                  <a:pt x="0" y="4015289"/>
                </a:lnTo>
                <a:lnTo>
                  <a:pt x="5208512" y="4015289"/>
                </a:lnTo>
                <a:lnTo>
                  <a:pt x="52085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1652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96504" y="2645275"/>
            <a:ext cx="3322001" cy="890344"/>
            <a:chOff x="0" y="0"/>
            <a:chExt cx="936148" cy="2509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6148" cy="250901"/>
            </a:xfrm>
            <a:custGeom>
              <a:avLst/>
              <a:gdLst/>
              <a:ahLst/>
              <a:cxnLst/>
              <a:rect l="l" t="t" r="r" b="b"/>
              <a:pathLst>
                <a:path w="936148" h="250901">
                  <a:moveTo>
                    <a:pt x="37288" y="0"/>
                  </a:moveTo>
                  <a:lnTo>
                    <a:pt x="898860" y="0"/>
                  </a:lnTo>
                  <a:cubicBezTo>
                    <a:pt x="908749" y="0"/>
                    <a:pt x="918233" y="3929"/>
                    <a:pt x="925226" y="10921"/>
                  </a:cubicBezTo>
                  <a:cubicBezTo>
                    <a:pt x="932219" y="17914"/>
                    <a:pt x="936148" y="27399"/>
                    <a:pt x="936148" y="37288"/>
                  </a:cubicBezTo>
                  <a:lnTo>
                    <a:pt x="936148" y="213613"/>
                  </a:lnTo>
                  <a:cubicBezTo>
                    <a:pt x="936148" y="223502"/>
                    <a:pt x="932219" y="232987"/>
                    <a:pt x="925226" y="239980"/>
                  </a:cubicBezTo>
                  <a:cubicBezTo>
                    <a:pt x="918233" y="246973"/>
                    <a:pt x="908749" y="250901"/>
                    <a:pt x="898860" y="250901"/>
                  </a:cubicBezTo>
                  <a:lnTo>
                    <a:pt x="37288" y="250901"/>
                  </a:lnTo>
                  <a:cubicBezTo>
                    <a:pt x="27399" y="250901"/>
                    <a:pt x="17914" y="246973"/>
                    <a:pt x="10921" y="239980"/>
                  </a:cubicBezTo>
                  <a:cubicBezTo>
                    <a:pt x="3929" y="232987"/>
                    <a:pt x="0" y="223502"/>
                    <a:pt x="0" y="213613"/>
                  </a:cubicBezTo>
                  <a:lnTo>
                    <a:pt x="0" y="37288"/>
                  </a:lnTo>
                  <a:cubicBezTo>
                    <a:pt x="0" y="27399"/>
                    <a:pt x="3929" y="17914"/>
                    <a:pt x="10921" y="10921"/>
                  </a:cubicBezTo>
                  <a:cubicBezTo>
                    <a:pt x="17914" y="3929"/>
                    <a:pt x="27399" y="0"/>
                    <a:pt x="37288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936148" cy="193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62502" y="2645275"/>
            <a:ext cx="3322001" cy="890344"/>
            <a:chOff x="0" y="0"/>
            <a:chExt cx="936148" cy="2509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6148" cy="250901"/>
            </a:xfrm>
            <a:custGeom>
              <a:avLst/>
              <a:gdLst/>
              <a:ahLst/>
              <a:cxnLst/>
              <a:rect l="l" t="t" r="r" b="b"/>
              <a:pathLst>
                <a:path w="936148" h="250901">
                  <a:moveTo>
                    <a:pt x="37288" y="0"/>
                  </a:moveTo>
                  <a:lnTo>
                    <a:pt x="898860" y="0"/>
                  </a:lnTo>
                  <a:cubicBezTo>
                    <a:pt x="908749" y="0"/>
                    <a:pt x="918233" y="3929"/>
                    <a:pt x="925226" y="10921"/>
                  </a:cubicBezTo>
                  <a:cubicBezTo>
                    <a:pt x="932219" y="17914"/>
                    <a:pt x="936148" y="27399"/>
                    <a:pt x="936148" y="37288"/>
                  </a:cubicBezTo>
                  <a:lnTo>
                    <a:pt x="936148" y="213613"/>
                  </a:lnTo>
                  <a:cubicBezTo>
                    <a:pt x="936148" y="223502"/>
                    <a:pt x="932219" y="232987"/>
                    <a:pt x="925226" y="239980"/>
                  </a:cubicBezTo>
                  <a:cubicBezTo>
                    <a:pt x="918233" y="246973"/>
                    <a:pt x="908749" y="250901"/>
                    <a:pt x="898860" y="250901"/>
                  </a:cubicBezTo>
                  <a:lnTo>
                    <a:pt x="37288" y="250901"/>
                  </a:lnTo>
                  <a:cubicBezTo>
                    <a:pt x="27399" y="250901"/>
                    <a:pt x="17914" y="246973"/>
                    <a:pt x="10921" y="239980"/>
                  </a:cubicBezTo>
                  <a:cubicBezTo>
                    <a:pt x="3929" y="232987"/>
                    <a:pt x="0" y="223502"/>
                    <a:pt x="0" y="213613"/>
                  </a:cubicBezTo>
                  <a:lnTo>
                    <a:pt x="0" y="37288"/>
                  </a:lnTo>
                  <a:cubicBezTo>
                    <a:pt x="0" y="27399"/>
                    <a:pt x="3929" y="17914"/>
                    <a:pt x="10921" y="10921"/>
                  </a:cubicBezTo>
                  <a:cubicBezTo>
                    <a:pt x="17914" y="3929"/>
                    <a:pt x="27399" y="0"/>
                    <a:pt x="37288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936148" cy="193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374060" y="5414029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0" y="0"/>
                </a:moveTo>
                <a:lnTo>
                  <a:pt x="1098886" y="0"/>
                </a:lnTo>
                <a:lnTo>
                  <a:pt x="1098886" y="1084016"/>
                </a:lnTo>
                <a:lnTo>
                  <a:pt x="0" y="10840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028700" y="8174284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1098886" y="0"/>
                </a:moveTo>
                <a:lnTo>
                  <a:pt x="0" y="0"/>
                </a:lnTo>
                <a:lnTo>
                  <a:pt x="0" y="1084016"/>
                </a:lnTo>
                <a:lnTo>
                  <a:pt x="1098886" y="1084016"/>
                </a:lnTo>
                <a:lnTo>
                  <a:pt x="10988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78143" y="4346156"/>
            <a:ext cx="1507224" cy="1455156"/>
          </a:xfrm>
          <a:custGeom>
            <a:avLst/>
            <a:gdLst/>
            <a:ahLst/>
            <a:cxnLst/>
            <a:rect l="l" t="t" r="r" b="b"/>
            <a:pathLst>
              <a:path w="1507224" h="1455156">
                <a:moveTo>
                  <a:pt x="0" y="0"/>
                </a:moveTo>
                <a:lnTo>
                  <a:pt x="1507224" y="0"/>
                </a:lnTo>
                <a:lnTo>
                  <a:pt x="1507224" y="1455156"/>
                </a:lnTo>
                <a:lnTo>
                  <a:pt x="0" y="14551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317740" y="4111922"/>
            <a:ext cx="8245988" cy="4062362"/>
          </a:xfrm>
          <a:custGeom>
            <a:avLst/>
            <a:gdLst/>
            <a:ahLst/>
            <a:cxnLst/>
            <a:rect l="l" t="t" r="r" b="b"/>
            <a:pathLst>
              <a:path w="8245988" h="4062362">
                <a:moveTo>
                  <a:pt x="0" y="0"/>
                </a:moveTo>
                <a:lnTo>
                  <a:pt x="8245988" y="0"/>
                </a:lnTo>
                <a:lnTo>
                  <a:pt x="8245988" y="4062362"/>
                </a:lnTo>
                <a:lnTo>
                  <a:pt x="0" y="4062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10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18722" y="685654"/>
            <a:ext cx="6278223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Table Content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51110" y="3296503"/>
            <a:ext cx="2916890" cy="444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65"/>
              </a:lnSpc>
              <a:spcBef>
                <a:spcPct val="0"/>
              </a:spcBef>
            </a:pPr>
            <a:r>
              <a:rPr lang="en-US" sz="2546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* from billing;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1060016" y="2300949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1098886" y="0"/>
                </a:moveTo>
                <a:lnTo>
                  <a:pt x="0" y="0"/>
                </a:lnTo>
                <a:lnTo>
                  <a:pt x="0" y="1084017"/>
                </a:lnTo>
                <a:lnTo>
                  <a:pt x="1098886" y="1084017"/>
                </a:lnTo>
                <a:lnTo>
                  <a:pt x="10988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16168" y="330011"/>
            <a:ext cx="2443964" cy="3054955"/>
          </a:xfrm>
          <a:custGeom>
            <a:avLst/>
            <a:gdLst/>
            <a:ahLst/>
            <a:cxnLst/>
            <a:rect l="l" t="t" r="r" b="b"/>
            <a:pathLst>
              <a:path w="2443964" h="3054955">
                <a:moveTo>
                  <a:pt x="0" y="0"/>
                </a:moveTo>
                <a:lnTo>
                  <a:pt x="2443964" y="0"/>
                </a:lnTo>
                <a:lnTo>
                  <a:pt x="2443964" y="3054955"/>
                </a:lnTo>
                <a:lnTo>
                  <a:pt x="0" y="30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609459" y="8027288"/>
            <a:ext cx="1501994" cy="2060092"/>
          </a:xfrm>
          <a:custGeom>
            <a:avLst/>
            <a:gdLst/>
            <a:ahLst/>
            <a:cxnLst/>
            <a:rect l="l" t="t" r="r" b="b"/>
            <a:pathLst>
              <a:path w="1501994" h="2060092">
                <a:moveTo>
                  <a:pt x="0" y="0"/>
                </a:moveTo>
                <a:lnTo>
                  <a:pt x="1501994" y="0"/>
                </a:lnTo>
                <a:lnTo>
                  <a:pt x="1501994" y="2060092"/>
                </a:lnTo>
                <a:lnTo>
                  <a:pt x="0" y="20600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167015" y="3612655"/>
            <a:ext cx="5154533" cy="5225876"/>
          </a:xfrm>
          <a:custGeom>
            <a:avLst/>
            <a:gdLst/>
            <a:ahLst/>
            <a:cxnLst/>
            <a:rect l="l" t="t" r="r" b="b"/>
            <a:pathLst>
              <a:path w="5154533" h="5225876">
                <a:moveTo>
                  <a:pt x="0" y="0"/>
                </a:moveTo>
                <a:lnTo>
                  <a:pt x="5154533" y="0"/>
                </a:lnTo>
                <a:lnTo>
                  <a:pt x="5154533" y="5225876"/>
                </a:lnTo>
                <a:lnTo>
                  <a:pt x="0" y="52258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588950" y="3612655"/>
            <a:ext cx="6041019" cy="4226579"/>
          </a:xfrm>
          <a:custGeom>
            <a:avLst/>
            <a:gdLst/>
            <a:ahLst/>
            <a:cxnLst/>
            <a:rect l="l" t="t" r="r" b="b"/>
            <a:pathLst>
              <a:path w="6041019" h="4226579">
                <a:moveTo>
                  <a:pt x="0" y="0"/>
                </a:moveTo>
                <a:lnTo>
                  <a:pt x="6041019" y="0"/>
                </a:lnTo>
                <a:lnTo>
                  <a:pt x="6041019" y="4226579"/>
                </a:lnTo>
                <a:lnTo>
                  <a:pt x="0" y="42265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11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81784" y="463361"/>
            <a:ext cx="7890850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Basic SQL &amp; Data Understanding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67015" y="2137955"/>
            <a:ext cx="7245522" cy="13597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5"/>
              </a:lnSpc>
              <a:spcBef>
                <a:spcPct val="0"/>
              </a:spcBef>
            </a:pPr>
            <a:r>
              <a:rPr lang="en-US" sz="1968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 1. List all patients with their full name, gender, and insurance provider</a:t>
            </a:r>
          </a:p>
          <a:p>
            <a:pPr algn="l">
              <a:lnSpc>
                <a:spcPts val="2755"/>
              </a:lnSpc>
              <a:spcBef>
                <a:spcPct val="0"/>
              </a:spcBef>
            </a:pPr>
            <a:r>
              <a:rPr lang="en-US" sz="1968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concat(first_name, ' ', last_name) as full_name, gender, insaurance_provider from patients;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77132" y="2137955"/>
            <a:ext cx="8278961" cy="101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2. Show all doctors and their specializations and hospital branches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concat(first_name, ' ', last_name) as full_name, specialization, hospital_branch from doctors;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84240" y="-1627189"/>
            <a:ext cx="5208512" cy="4015289"/>
          </a:xfrm>
          <a:custGeom>
            <a:avLst/>
            <a:gdLst/>
            <a:ahLst/>
            <a:cxnLst/>
            <a:rect l="l" t="t" r="r" b="b"/>
            <a:pathLst>
              <a:path w="5208512" h="4015289">
                <a:moveTo>
                  <a:pt x="0" y="0"/>
                </a:moveTo>
                <a:lnTo>
                  <a:pt x="5208512" y="0"/>
                </a:lnTo>
                <a:lnTo>
                  <a:pt x="5208512" y="4015289"/>
                </a:lnTo>
                <a:lnTo>
                  <a:pt x="0" y="4015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563728" y="-1627189"/>
            <a:ext cx="5208512" cy="4015289"/>
          </a:xfrm>
          <a:custGeom>
            <a:avLst/>
            <a:gdLst/>
            <a:ahLst/>
            <a:cxnLst/>
            <a:rect l="l" t="t" r="r" b="b"/>
            <a:pathLst>
              <a:path w="5208512" h="4015289">
                <a:moveTo>
                  <a:pt x="5208512" y="0"/>
                </a:moveTo>
                <a:lnTo>
                  <a:pt x="0" y="0"/>
                </a:lnTo>
                <a:lnTo>
                  <a:pt x="0" y="4015289"/>
                </a:lnTo>
                <a:lnTo>
                  <a:pt x="5208512" y="4015289"/>
                </a:lnTo>
                <a:lnTo>
                  <a:pt x="52085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1652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96504" y="2645275"/>
            <a:ext cx="3322001" cy="890344"/>
            <a:chOff x="0" y="0"/>
            <a:chExt cx="936148" cy="2509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6148" cy="250901"/>
            </a:xfrm>
            <a:custGeom>
              <a:avLst/>
              <a:gdLst/>
              <a:ahLst/>
              <a:cxnLst/>
              <a:rect l="l" t="t" r="r" b="b"/>
              <a:pathLst>
                <a:path w="936148" h="250901">
                  <a:moveTo>
                    <a:pt x="37288" y="0"/>
                  </a:moveTo>
                  <a:lnTo>
                    <a:pt x="898860" y="0"/>
                  </a:lnTo>
                  <a:cubicBezTo>
                    <a:pt x="908749" y="0"/>
                    <a:pt x="918233" y="3929"/>
                    <a:pt x="925226" y="10921"/>
                  </a:cubicBezTo>
                  <a:cubicBezTo>
                    <a:pt x="932219" y="17914"/>
                    <a:pt x="936148" y="27399"/>
                    <a:pt x="936148" y="37288"/>
                  </a:cubicBezTo>
                  <a:lnTo>
                    <a:pt x="936148" y="213613"/>
                  </a:lnTo>
                  <a:cubicBezTo>
                    <a:pt x="936148" y="223502"/>
                    <a:pt x="932219" y="232987"/>
                    <a:pt x="925226" y="239980"/>
                  </a:cubicBezTo>
                  <a:cubicBezTo>
                    <a:pt x="918233" y="246973"/>
                    <a:pt x="908749" y="250901"/>
                    <a:pt x="898860" y="250901"/>
                  </a:cubicBezTo>
                  <a:lnTo>
                    <a:pt x="37288" y="250901"/>
                  </a:lnTo>
                  <a:cubicBezTo>
                    <a:pt x="27399" y="250901"/>
                    <a:pt x="17914" y="246973"/>
                    <a:pt x="10921" y="239980"/>
                  </a:cubicBezTo>
                  <a:cubicBezTo>
                    <a:pt x="3929" y="232987"/>
                    <a:pt x="0" y="223502"/>
                    <a:pt x="0" y="213613"/>
                  </a:cubicBezTo>
                  <a:lnTo>
                    <a:pt x="0" y="37288"/>
                  </a:lnTo>
                  <a:cubicBezTo>
                    <a:pt x="0" y="27399"/>
                    <a:pt x="3929" y="17914"/>
                    <a:pt x="10921" y="10921"/>
                  </a:cubicBezTo>
                  <a:cubicBezTo>
                    <a:pt x="17914" y="3929"/>
                    <a:pt x="27399" y="0"/>
                    <a:pt x="37288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936148" cy="193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62502" y="2645275"/>
            <a:ext cx="3322001" cy="890344"/>
            <a:chOff x="0" y="0"/>
            <a:chExt cx="936148" cy="2509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6148" cy="250901"/>
            </a:xfrm>
            <a:custGeom>
              <a:avLst/>
              <a:gdLst/>
              <a:ahLst/>
              <a:cxnLst/>
              <a:rect l="l" t="t" r="r" b="b"/>
              <a:pathLst>
                <a:path w="936148" h="250901">
                  <a:moveTo>
                    <a:pt x="37288" y="0"/>
                  </a:moveTo>
                  <a:lnTo>
                    <a:pt x="898860" y="0"/>
                  </a:lnTo>
                  <a:cubicBezTo>
                    <a:pt x="908749" y="0"/>
                    <a:pt x="918233" y="3929"/>
                    <a:pt x="925226" y="10921"/>
                  </a:cubicBezTo>
                  <a:cubicBezTo>
                    <a:pt x="932219" y="17914"/>
                    <a:pt x="936148" y="27399"/>
                    <a:pt x="936148" y="37288"/>
                  </a:cubicBezTo>
                  <a:lnTo>
                    <a:pt x="936148" y="213613"/>
                  </a:lnTo>
                  <a:cubicBezTo>
                    <a:pt x="936148" y="223502"/>
                    <a:pt x="932219" y="232987"/>
                    <a:pt x="925226" y="239980"/>
                  </a:cubicBezTo>
                  <a:cubicBezTo>
                    <a:pt x="918233" y="246973"/>
                    <a:pt x="908749" y="250901"/>
                    <a:pt x="898860" y="250901"/>
                  </a:cubicBezTo>
                  <a:lnTo>
                    <a:pt x="37288" y="250901"/>
                  </a:lnTo>
                  <a:cubicBezTo>
                    <a:pt x="27399" y="250901"/>
                    <a:pt x="17914" y="246973"/>
                    <a:pt x="10921" y="239980"/>
                  </a:cubicBezTo>
                  <a:cubicBezTo>
                    <a:pt x="3929" y="232987"/>
                    <a:pt x="0" y="223502"/>
                    <a:pt x="0" y="213613"/>
                  </a:cubicBezTo>
                  <a:lnTo>
                    <a:pt x="0" y="37288"/>
                  </a:lnTo>
                  <a:cubicBezTo>
                    <a:pt x="0" y="27399"/>
                    <a:pt x="3929" y="17914"/>
                    <a:pt x="10921" y="10921"/>
                  </a:cubicBezTo>
                  <a:cubicBezTo>
                    <a:pt x="17914" y="3929"/>
                    <a:pt x="27399" y="0"/>
                    <a:pt x="37288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936148" cy="193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374060" y="5414029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0" y="0"/>
                </a:moveTo>
                <a:lnTo>
                  <a:pt x="1098886" y="0"/>
                </a:lnTo>
                <a:lnTo>
                  <a:pt x="1098886" y="1084016"/>
                </a:lnTo>
                <a:lnTo>
                  <a:pt x="0" y="10840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028700" y="8174284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1098886" y="0"/>
                </a:moveTo>
                <a:lnTo>
                  <a:pt x="0" y="0"/>
                </a:lnTo>
                <a:lnTo>
                  <a:pt x="0" y="1084016"/>
                </a:lnTo>
                <a:lnTo>
                  <a:pt x="1098886" y="1084016"/>
                </a:lnTo>
                <a:lnTo>
                  <a:pt x="10988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64497" y="4415922"/>
            <a:ext cx="1507224" cy="1455156"/>
          </a:xfrm>
          <a:custGeom>
            <a:avLst/>
            <a:gdLst/>
            <a:ahLst/>
            <a:cxnLst/>
            <a:rect l="l" t="t" r="r" b="b"/>
            <a:pathLst>
              <a:path w="1507224" h="1455156">
                <a:moveTo>
                  <a:pt x="0" y="0"/>
                </a:moveTo>
                <a:lnTo>
                  <a:pt x="1507224" y="0"/>
                </a:lnTo>
                <a:lnTo>
                  <a:pt x="1507224" y="1455156"/>
                </a:lnTo>
                <a:lnTo>
                  <a:pt x="0" y="14551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255361" y="4224011"/>
            <a:ext cx="5902473" cy="2779874"/>
          </a:xfrm>
          <a:custGeom>
            <a:avLst/>
            <a:gdLst/>
            <a:ahLst/>
            <a:cxnLst/>
            <a:rect l="l" t="t" r="r" b="b"/>
            <a:pathLst>
              <a:path w="5902473" h="2779874">
                <a:moveTo>
                  <a:pt x="0" y="0"/>
                </a:moveTo>
                <a:lnTo>
                  <a:pt x="5902473" y="0"/>
                </a:lnTo>
                <a:lnTo>
                  <a:pt x="5902473" y="2779875"/>
                </a:lnTo>
                <a:lnTo>
                  <a:pt x="0" y="277987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9660604" y="4224011"/>
            <a:ext cx="5348861" cy="2779874"/>
          </a:xfrm>
          <a:custGeom>
            <a:avLst/>
            <a:gdLst/>
            <a:ahLst/>
            <a:cxnLst/>
            <a:rect l="l" t="t" r="r" b="b"/>
            <a:pathLst>
              <a:path w="5348861" h="2779874">
                <a:moveTo>
                  <a:pt x="0" y="0"/>
                </a:moveTo>
                <a:lnTo>
                  <a:pt x="5348861" y="0"/>
                </a:lnTo>
                <a:lnTo>
                  <a:pt x="5348861" y="2779875"/>
                </a:lnTo>
                <a:lnTo>
                  <a:pt x="0" y="2779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12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56812" y="513805"/>
            <a:ext cx="6278223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Basic SQL &amp; Data Understanding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255361" y="2607175"/>
            <a:ext cx="5902473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3. Retrieve all appointments with status is 'Scheduled'.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* from appointments where status = 'Scheduled';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60604" y="2607175"/>
            <a:ext cx="5507831" cy="67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4. Display treatments that cost more than 1,000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* from treatments where cost&gt;1000;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92612" y="1661255"/>
            <a:ext cx="1211969" cy="1195569"/>
          </a:xfrm>
          <a:custGeom>
            <a:avLst/>
            <a:gdLst/>
            <a:ahLst/>
            <a:cxnLst/>
            <a:rect l="l" t="t" r="r" b="b"/>
            <a:pathLst>
              <a:path w="1211969" h="1195569">
                <a:moveTo>
                  <a:pt x="0" y="0"/>
                </a:moveTo>
                <a:lnTo>
                  <a:pt x="1211969" y="0"/>
                </a:lnTo>
                <a:lnTo>
                  <a:pt x="1211969" y="1195569"/>
                </a:lnTo>
                <a:lnTo>
                  <a:pt x="0" y="11955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984777" y="7032029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1028700"/>
            <a:ext cx="1027151" cy="1013252"/>
          </a:xfrm>
          <a:custGeom>
            <a:avLst/>
            <a:gdLst/>
            <a:ahLst/>
            <a:cxnLst/>
            <a:rect l="l" t="t" r="r" b="b"/>
            <a:pathLst>
              <a:path w="1027151" h="1013252">
                <a:moveTo>
                  <a:pt x="0" y="0"/>
                </a:moveTo>
                <a:lnTo>
                  <a:pt x="1027151" y="0"/>
                </a:lnTo>
                <a:lnTo>
                  <a:pt x="1027151" y="1013252"/>
                </a:lnTo>
                <a:lnTo>
                  <a:pt x="0" y="1013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41572" y="4294071"/>
            <a:ext cx="3326016" cy="3326016"/>
          </a:xfrm>
          <a:custGeom>
            <a:avLst/>
            <a:gdLst/>
            <a:ahLst/>
            <a:cxnLst/>
            <a:rect l="l" t="t" r="r" b="b"/>
            <a:pathLst>
              <a:path w="3326016" h="3326016">
                <a:moveTo>
                  <a:pt x="0" y="0"/>
                </a:moveTo>
                <a:lnTo>
                  <a:pt x="3326016" y="0"/>
                </a:lnTo>
                <a:lnTo>
                  <a:pt x="3326016" y="3326016"/>
                </a:lnTo>
                <a:lnTo>
                  <a:pt x="0" y="332601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928049" y="8433789"/>
            <a:ext cx="4431903" cy="1536362"/>
          </a:xfrm>
          <a:custGeom>
            <a:avLst/>
            <a:gdLst/>
            <a:ahLst/>
            <a:cxnLst/>
            <a:rect l="l" t="t" r="r" b="b"/>
            <a:pathLst>
              <a:path w="4431903" h="1536362">
                <a:moveTo>
                  <a:pt x="0" y="0"/>
                </a:moveTo>
                <a:lnTo>
                  <a:pt x="4431902" y="0"/>
                </a:lnTo>
                <a:lnTo>
                  <a:pt x="4431902" y="1536362"/>
                </a:lnTo>
                <a:lnTo>
                  <a:pt x="0" y="1536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043034" y="3542972"/>
            <a:ext cx="8056617" cy="4308667"/>
          </a:xfrm>
          <a:custGeom>
            <a:avLst/>
            <a:gdLst/>
            <a:ahLst/>
            <a:cxnLst/>
            <a:rect l="l" t="t" r="r" b="b"/>
            <a:pathLst>
              <a:path w="8056617" h="4308667">
                <a:moveTo>
                  <a:pt x="0" y="0"/>
                </a:moveTo>
                <a:lnTo>
                  <a:pt x="8056617" y="0"/>
                </a:lnTo>
                <a:lnTo>
                  <a:pt x="8056617" y="4308667"/>
                </a:lnTo>
                <a:lnTo>
                  <a:pt x="0" y="43086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13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67864" y="460509"/>
            <a:ext cx="7152271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Basic SQL &amp; Data Understanding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43034" y="2500843"/>
            <a:ext cx="7209979" cy="67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5. List all unpaid bills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* from billing where payment_status IN ('Pending' , 'Failed');</a:t>
            </a:r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3B15DB52-7282-BDBA-2F16-156F2B24085A}"/>
              </a:ext>
            </a:extLst>
          </p:cNvPr>
          <p:cNvSpPr/>
          <p:nvPr/>
        </p:nvSpPr>
        <p:spPr>
          <a:xfrm>
            <a:off x="1086544" y="4315238"/>
            <a:ext cx="2836077" cy="2716791"/>
          </a:xfrm>
          <a:custGeom>
            <a:avLst/>
            <a:gdLst/>
            <a:ahLst/>
            <a:cxnLst/>
            <a:rect l="l" t="t" r="r" b="b"/>
            <a:pathLst>
              <a:path w="2496288" h="2383955">
                <a:moveTo>
                  <a:pt x="0" y="0"/>
                </a:moveTo>
                <a:lnTo>
                  <a:pt x="2496288" y="0"/>
                </a:lnTo>
                <a:lnTo>
                  <a:pt x="2496288" y="2383955"/>
                </a:lnTo>
                <a:lnTo>
                  <a:pt x="0" y="23839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984777" y="-1659817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4270627" y="-1659817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6026955" y="0"/>
                </a:moveTo>
                <a:lnTo>
                  <a:pt x="0" y="0"/>
                </a:lnTo>
                <a:lnTo>
                  <a:pt x="0" y="4646234"/>
                </a:lnTo>
                <a:lnTo>
                  <a:pt x="6026955" y="4646234"/>
                </a:lnTo>
                <a:lnTo>
                  <a:pt x="602695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1652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259300" y="4540777"/>
            <a:ext cx="1221982" cy="1205446"/>
          </a:xfrm>
          <a:custGeom>
            <a:avLst/>
            <a:gdLst/>
            <a:ahLst/>
            <a:cxnLst/>
            <a:rect l="l" t="t" r="r" b="b"/>
            <a:pathLst>
              <a:path w="1221982" h="1205446">
                <a:moveTo>
                  <a:pt x="0" y="0"/>
                </a:moveTo>
                <a:lnTo>
                  <a:pt x="1221982" y="0"/>
                </a:lnTo>
                <a:lnTo>
                  <a:pt x="1221982" y="1205446"/>
                </a:lnTo>
                <a:lnTo>
                  <a:pt x="0" y="12054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334331" y="5696070"/>
            <a:ext cx="1221982" cy="1205446"/>
          </a:xfrm>
          <a:custGeom>
            <a:avLst/>
            <a:gdLst/>
            <a:ahLst/>
            <a:cxnLst/>
            <a:rect l="l" t="t" r="r" b="b"/>
            <a:pathLst>
              <a:path w="1221982" h="1205446">
                <a:moveTo>
                  <a:pt x="0" y="0"/>
                </a:moveTo>
                <a:lnTo>
                  <a:pt x="1221982" y="0"/>
                </a:lnTo>
                <a:lnTo>
                  <a:pt x="1221982" y="1205446"/>
                </a:lnTo>
                <a:lnTo>
                  <a:pt x="0" y="12054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25976" y="4200182"/>
            <a:ext cx="5969347" cy="2629852"/>
          </a:xfrm>
          <a:custGeom>
            <a:avLst/>
            <a:gdLst/>
            <a:ahLst/>
            <a:cxnLst/>
            <a:rect l="l" t="t" r="r" b="b"/>
            <a:pathLst>
              <a:path w="5969347" h="2629852">
                <a:moveTo>
                  <a:pt x="0" y="0"/>
                </a:moveTo>
                <a:lnTo>
                  <a:pt x="5969347" y="0"/>
                </a:lnTo>
                <a:lnTo>
                  <a:pt x="5969347" y="2629852"/>
                </a:lnTo>
                <a:lnTo>
                  <a:pt x="0" y="262985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14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43034" y="685654"/>
            <a:ext cx="8462037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Patient Analytics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76" y="3105849"/>
            <a:ext cx="5969347" cy="67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1. Count the total number of patients by gender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gender,count(*) from patients group by gender;</a:t>
            </a:r>
          </a:p>
        </p:txBody>
      </p:sp>
      <p:sp>
        <p:nvSpPr>
          <p:cNvPr id="13" name="Freeform 13"/>
          <p:cNvSpPr/>
          <p:nvPr/>
        </p:nvSpPr>
        <p:spPr>
          <a:xfrm>
            <a:off x="8867365" y="4636067"/>
            <a:ext cx="6725247" cy="2771617"/>
          </a:xfrm>
          <a:custGeom>
            <a:avLst/>
            <a:gdLst/>
            <a:ahLst/>
            <a:cxnLst/>
            <a:rect l="l" t="t" r="r" b="b"/>
            <a:pathLst>
              <a:path w="6725247" h="2771617">
                <a:moveTo>
                  <a:pt x="0" y="0"/>
                </a:moveTo>
                <a:lnTo>
                  <a:pt x="6725247" y="0"/>
                </a:lnTo>
                <a:lnTo>
                  <a:pt x="6725247" y="2771617"/>
                </a:lnTo>
                <a:lnTo>
                  <a:pt x="0" y="277161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8867365" y="3105849"/>
            <a:ext cx="6725247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2. Identify patients who do not have insurance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concat(p.first_name, ' ', p.last_name) as full_name, a.patient_id from appointments a left join patients p on p.patient_id= a.patient_id where p.insaurance_provider is null;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495998">
            <a:off x="12227926" y="1311506"/>
            <a:ext cx="1389288" cy="1389288"/>
          </a:xfrm>
          <a:custGeom>
            <a:avLst/>
            <a:gdLst/>
            <a:ahLst/>
            <a:cxnLst/>
            <a:rect l="l" t="t" r="r" b="b"/>
            <a:pathLst>
              <a:path w="1389288" h="1389288">
                <a:moveTo>
                  <a:pt x="0" y="0"/>
                </a:moveTo>
                <a:lnTo>
                  <a:pt x="1389288" y="0"/>
                </a:lnTo>
                <a:lnTo>
                  <a:pt x="1389288" y="1389288"/>
                </a:lnTo>
                <a:lnTo>
                  <a:pt x="0" y="13892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40444" y="1028700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788915" y="2601453"/>
            <a:ext cx="1312249" cy="1294492"/>
          </a:xfrm>
          <a:custGeom>
            <a:avLst/>
            <a:gdLst/>
            <a:ahLst/>
            <a:cxnLst/>
            <a:rect l="l" t="t" r="r" b="b"/>
            <a:pathLst>
              <a:path w="1312249" h="1294492">
                <a:moveTo>
                  <a:pt x="0" y="0"/>
                </a:moveTo>
                <a:lnTo>
                  <a:pt x="1312250" y="0"/>
                </a:lnTo>
                <a:lnTo>
                  <a:pt x="1312250" y="1294492"/>
                </a:lnTo>
                <a:lnTo>
                  <a:pt x="0" y="12944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3248699"/>
            <a:ext cx="10913224" cy="1391436"/>
          </a:xfrm>
          <a:custGeom>
            <a:avLst/>
            <a:gdLst/>
            <a:ahLst/>
            <a:cxnLst/>
            <a:rect l="l" t="t" r="r" b="b"/>
            <a:pathLst>
              <a:path w="10913224" h="1391436">
                <a:moveTo>
                  <a:pt x="0" y="0"/>
                </a:moveTo>
                <a:lnTo>
                  <a:pt x="10913224" y="0"/>
                </a:lnTo>
                <a:lnTo>
                  <a:pt x="10913224" y="1391436"/>
                </a:lnTo>
                <a:lnTo>
                  <a:pt x="0" y="139143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043769" y="4794116"/>
            <a:ext cx="3796311" cy="5294855"/>
          </a:xfrm>
          <a:custGeom>
            <a:avLst/>
            <a:gdLst/>
            <a:ahLst/>
            <a:cxnLst/>
            <a:rect l="l" t="t" r="r" b="b"/>
            <a:pathLst>
              <a:path w="3796311" h="5294855">
                <a:moveTo>
                  <a:pt x="0" y="0"/>
                </a:moveTo>
                <a:lnTo>
                  <a:pt x="3796311" y="0"/>
                </a:lnTo>
                <a:lnTo>
                  <a:pt x="3796311" y="5294856"/>
                </a:lnTo>
                <a:lnTo>
                  <a:pt x="0" y="529485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15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1508" y="662468"/>
            <a:ext cx="7232651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Patient Analytics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699" y="2327187"/>
            <a:ext cx="6322987" cy="704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 dirty="0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3. Find the top 5 oldest patients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* from patients order by </a:t>
            </a:r>
            <a:r>
              <a:rPr lang="en-US" sz="1970" dirty="0" err="1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date_of_birth</a:t>
            </a:r>
            <a:r>
              <a:rPr lang="en-US" sz="1970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 </a:t>
            </a:r>
            <a:r>
              <a:rPr lang="en-US" sz="1970" dirty="0" err="1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asc</a:t>
            </a:r>
            <a:r>
              <a:rPr lang="en-US" sz="1970" dirty="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  LIMIT 5;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859210"/>
            <a:ext cx="9416340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4. Find patients who have had more than 3 appointments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p.patient_id, concat(p.first_name, ' ', p.last_name) as full_name, count(a.appointment_id) as count from patients p left join appointments a  on p.patient_id = a.patient_id group by patient_id, full_name having count&gt;3;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598956" y="2842958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1098886" y="0"/>
                </a:moveTo>
                <a:lnTo>
                  <a:pt x="0" y="0"/>
                </a:lnTo>
                <a:lnTo>
                  <a:pt x="0" y="1084016"/>
                </a:lnTo>
                <a:lnTo>
                  <a:pt x="1098886" y="1084016"/>
                </a:lnTo>
                <a:lnTo>
                  <a:pt x="10988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16168" y="330011"/>
            <a:ext cx="2443964" cy="3054955"/>
          </a:xfrm>
          <a:custGeom>
            <a:avLst/>
            <a:gdLst/>
            <a:ahLst/>
            <a:cxnLst/>
            <a:rect l="l" t="t" r="r" b="b"/>
            <a:pathLst>
              <a:path w="2443964" h="3054955">
                <a:moveTo>
                  <a:pt x="0" y="0"/>
                </a:moveTo>
                <a:lnTo>
                  <a:pt x="2443964" y="0"/>
                </a:lnTo>
                <a:lnTo>
                  <a:pt x="2443964" y="3054955"/>
                </a:lnTo>
                <a:lnTo>
                  <a:pt x="0" y="30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609459" y="8027288"/>
            <a:ext cx="1501994" cy="2060092"/>
          </a:xfrm>
          <a:custGeom>
            <a:avLst/>
            <a:gdLst/>
            <a:ahLst/>
            <a:cxnLst/>
            <a:rect l="l" t="t" r="r" b="b"/>
            <a:pathLst>
              <a:path w="1501994" h="2060092">
                <a:moveTo>
                  <a:pt x="0" y="0"/>
                </a:moveTo>
                <a:lnTo>
                  <a:pt x="1501994" y="0"/>
                </a:lnTo>
                <a:lnTo>
                  <a:pt x="1501994" y="2060092"/>
                </a:lnTo>
                <a:lnTo>
                  <a:pt x="0" y="20600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4163349" y="4041574"/>
            <a:ext cx="8972821" cy="2408290"/>
          </a:xfrm>
          <a:custGeom>
            <a:avLst/>
            <a:gdLst/>
            <a:ahLst/>
            <a:cxnLst/>
            <a:rect l="l" t="t" r="r" b="b"/>
            <a:pathLst>
              <a:path w="8972821" h="2408290">
                <a:moveTo>
                  <a:pt x="0" y="0"/>
                </a:moveTo>
                <a:lnTo>
                  <a:pt x="8972821" y="0"/>
                </a:lnTo>
                <a:lnTo>
                  <a:pt x="8972821" y="2408290"/>
                </a:lnTo>
                <a:lnTo>
                  <a:pt x="0" y="24082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16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98575" y="463361"/>
            <a:ext cx="7890850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Patient Analytics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63349" y="2310437"/>
            <a:ext cx="11052820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5. List patients who have never had an appointment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p.patient_id, concat(p.first_name, ' ', p.last_name) as full_name, count(a.appointment_id) as count from patients p left join appointments a  on p.patient_id = a.patient_id group by patient_id, full_name having count=0;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495998">
            <a:off x="12227926" y="1311506"/>
            <a:ext cx="1389288" cy="1389288"/>
          </a:xfrm>
          <a:custGeom>
            <a:avLst/>
            <a:gdLst/>
            <a:ahLst/>
            <a:cxnLst/>
            <a:rect l="l" t="t" r="r" b="b"/>
            <a:pathLst>
              <a:path w="1389288" h="1389288">
                <a:moveTo>
                  <a:pt x="0" y="0"/>
                </a:moveTo>
                <a:lnTo>
                  <a:pt x="1389288" y="0"/>
                </a:lnTo>
                <a:lnTo>
                  <a:pt x="1389288" y="1389288"/>
                </a:lnTo>
                <a:lnTo>
                  <a:pt x="0" y="13892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40444" y="1028700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764415" y="2683168"/>
            <a:ext cx="1312249" cy="1294492"/>
          </a:xfrm>
          <a:custGeom>
            <a:avLst/>
            <a:gdLst/>
            <a:ahLst/>
            <a:cxnLst/>
            <a:rect l="l" t="t" r="r" b="b"/>
            <a:pathLst>
              <a:path w="1312249" h="1294492">
                <a:moveTo>
                  <a:pt x="0" y="0"/>
                </a:moveTo>
                <a:lnTo>
                  <a:pt x="1312249" y="0"/>
                </a:lnTo>
                <a:lnTo>
                  <a:pt x="1312249" y="1294492"/>
                </a:lnTo>
                <a:lnTo>
                  <a:pt x="0" y="12944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3890037"/>
            <a:ext cx="4397530" cy="2212950"/>
          </a:xfrm>
          <a:custGeom>
            <a:avLst/>
            <a:gdLst/>
            <a:ahLst/>
            <a:cxnLst/>
            <a:rect l="l" t="t" r="r" b="b"/>
            <a:pathLst>
              <a:path w="4397530" h="2212950">
                <a:moveTo>
                  <a:pt x="0" y="0"/>
                </a:moveTo>
                <a:lnTo>
                  <a:pt x="4397530" y="0"/>
                </a:lnTo>
                <a:lnTo>
                  <a:pt x="4397530" y="2212950"/>
                </a:lnTo>
                <a:lnTo>
                  <a:pt x="0" y="22129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849288" y="4256077"/>
            <a:ext cx="6183291" cy="4016883"/>
          </a:xfrm>
          <a:custGeom>
            <a:avLst/>
            <a:gdLst/>
            <a:ahLst/>
            <a:cxnLst/>
            <a:rect l="l" t="t" r="r" b="b"/>
            <a:pathLst>
              <a:path w="6183291" h="4016883">
                <a:moveTo>
                  <a:pt x="0" y="0"/>
                </a:moveTo>
                <a:lnTo>
                  <a:pt x="6183292" y="0"/>
                </a:lnTo>
                <a:lnTo>
                  <a:pt x="6183292" y="4016882"/>
                </a:lnTo>
                <a:lnTo>
                  <a:pt x="0" y="401688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17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83603" y="534435"/>
            <a:ext cx="10473873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Doctor &amp; Staff Performance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645068"/>
            <a:ext cx="6378977" cy="101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1. Count the number of doctors per specialization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specialization, count(doctor_id) as count from doctors group by specialization;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849288" y="2645068"/>
            <a:ext cx="6766545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2. Find doctors with more than 10 years of experience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doctor_id, concat(first_name, ' ', last_name) as full_name, years_experience from doctors where years_experience&gt;=10;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84240" y="-1627189"/>
            <a:ext cx="5208512" cy="4015289"/>
          </a:xfrm>
          <a:custGeom>
            <a:avLst/>
            <a:gdLst/>
            <a:ahLst/>
            <a:cxnLst/>
            <a:rect l="l" t="t" r="r" b="b"/>
            <a:pathLst>
              <a:path w="5208512" h="4015289">
                <a:moveTo>
                  <a:pt x="0" y="0"/>
                </a:moveTo>
                <a:lnTo>
                  <a:pt x="5208512" y="0"/>
                </a:lnTo>
                <a:lnTo>
                  <a:pt x="5208512" y="4015289"/>
                </a:lnTo>
                <a:lnTo>
                  <a:pt x="0" y="4015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563728" y="-1627189"/>
            <a:ext cx="5208512" cy="4015289"/>
          </a:xfrm>
          <a:custGeom>
            <a:avLst/>
            <a:gdLst/>
            <a:ahLst/>
            <a:cxnLst/>
            <a:rect l="l" t="t" r="r" b="b"/>
            <a:pathLst>
              <a:path w="5208512" h="4015289">
                <a:moveTo>
                  <a:pt x="5208512" y="0"/>
                </a:moveTo>
                <a:lnTo>
                  <a:pt x="0" y="0"/>
                </a:lnTo>
                <a:lnTo>
                  <a:pt x="0" y="4015289"/>
                </a:lnTo>
                <a:lnTo>
                  <a:pt x="5208512" y="4015289"/>
                </a:lnTo>
                <a:lnTo>
                  <a:pt x="52085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1652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96504" y="2645275"/>
            <a:ext cx="3322001" cy="890344"/>
            <a:chOff x="0" y="0"/>
            <a:chExt cx="936148" cy="2509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6148" cy="250901"/>
            </a:xfrm>
            <a:custGeom>
              <a:avLst/>
              <a:gdLst/>
              <a:ahLst/>
              <a:cxnLst/>
              <a:rect l="l" t="t" r="r" b="b"/>
              <a:pathLst>
                <a:path w="936148" h="250901">
                  <a:moveTo>
                    <a:pt x="37288" y="0"/>
                  </a:moveTo>
                  <a:lnTo>
                    <a:pt x="898860" y="0"/>
                  </a:lnTo>
                  <a:cubicBezTo>
                    <a:pt x="908749" y="0"/>
                    <a:pt x="918233" y="3929"/>
                    <a:pt x="925226" y="10921"/>
                  </a:cubicBezTo>
                  <a:cubicBezTo>
                    <a:pt x="932219" y="17914"/>
                    <a:pt x="936148" y="27399"/>
                    <a:pt x="936148" y="37288"/>
                  </a:cubicBezTo>
                  <a:lnTo>
                    <a:pt x="936148" y="213613"/>
                  </a:lnTo>
                  <a:cubicBezTo>
                    <a:pt x="936148" y="223502"/>
                    <a:pt x="932219" y="232987"/>
                    <a:pt x="925226" y="239980"/>
                  </a:cubicBezTo>
                  <a:cubicBezTo>
                    <a:pt x="918233" y="246973"/>
                    <a:pt x="908749" y="250901"/>
                    <a:pt x="898860" y="250901"/>
                  </a:cubicBezTo>
                  <a:lnTo>
                    <a:pt x="37288" y="250901"/>
                  </a:lnTo>
                  <a:cubicBezTo>
                    <a:pt x="27399" y="250901"/>
                    <a:pt x="17914" y="246973"/>
                    <a:pt x="10921" y="239980"/>
                  </a:cubicBezTo>
                  <a:cubicBezTo>
                    <a:pt x="3929" y="232987"/>
                    <a:pt x="0" y="223502"/>
                    <a:pt x="0" y="213613"/>
                  </a:cubicBezTo>
                  <a:lnTo>
                    <a:pt x="0" y="37288"/>
                  </a:lnTo>
                  <a:cubicBezTo>
                    <a:pt x="0" y="27399"/>
                    <a:pt x="3929" y="17914"/>
                    <a:pt x="10921" y="10921"/>
                  </a:cubicBezTo>
                  <a:cubicBezTo>
                    <a:pt x="17914" y="3929"/>
                    <a:pt x="27399" y="0"/>
                    <a:pt x="37288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936148" cy="193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62502" y="2645275"/>
            <a:ext cx="3322001" cy="890344"/>
            <a:chOff x="0" y="0"/>
            <a:chExt cx="936148" cy="2509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6148" cy="250901"/>
            </a:xfrm>
            <a:custGeom>
              <a:avLst/>
              <a:gdLst/>
              <a:ahLst/>
              <a:cxnLst/>
              <a:rect l="l" t="t" r="r" b="b"/>
              <a:pathLst>
                <a:path w="936148" h="250901">
                  <a:moveTo>
                    <a:pt x="37288" y="0"/>
                  </a:moveTo>
                  <a:lnTo>
                    <a:pt x="898860" y="0"/>
                  </a:lnTo>
                  <a:cubicBezTo>
                    <a:pt x="908749" y="0"/>
                    <a:pt x="918233" y="3929"/>
                    <a:pt x="925226" y="10921"/>
                  </a:cubicBezTo>
                  <a:cubicBezTo>
                    <a:pt x="932219" y="17914"/>
                    <a:pt x="936148" y="27399"/>
                    <a:pt x="936148" y="37288"/>
                  </a:cubicBezTo>
                  <a:lnTo>
                    <a:pt x="936148" y="213613"/>
                  </a:lnTo>
                  <a:cubicBezTo>
                    <a:pt x="936148" y="223502"/>
                    <a:pt x="932219" y="232987"/>
                    <a:pt x="925226" y="239980"/>
                  </a:cubicBezTo>
                  <a:cubicBezTo>
                    <a:pt x="918233" y="246973"/>
                    <a:pt x="908749" y="250901"/>
                    <a:pt x="898860" y="250901"/>
                  </a:cubicBezTo>
                  <a:lnTo>
                    <a:pt x="37288" y="250901"/>
                  </a:lnTo>
                  <a:cubicBezTo>
                    <a:pt x="27399" y="250901"/>
                    <a:pt x="17914" y="246973"/>
                    <a:pt x="10921" y="239980"/>
                  </a:cubicBezTo>
                  <a:cubicBezTo>
                    <a:pt x="3929" y="232987"/>
                    <a:pt x="0" y="223502"/>
                    <a:pt x="0" y="213613"/>
                  </a:cubicBezTo>
                  <a:lnTo>
                    <a:pt x="0" y="37288"/>
                  </a:lnTo>
                  <a:cubicBezTo>
                    <a:pt x="0" y="27399"/>
                    <a:pt x="3929" y="17914"/>
                    <a:pt x="10921" y="10921"/>
                  </a:cubicBezTo>
                  <a:cubicBezTo>
                    <a:pt x="17914" y="3929"/>
                    <a:pt x="27399" y="0"/>
                    <a:pt x="37288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936148" cy="193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374060" y="5414029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0" y="0"/>
                </a:moveTo>
                <a:lnTo>
                  <a:pt x="1098886" y="0"/>
                </a:lnTo>
                <a:lnTo>
                  <a:pt x="1098886" y="1084016"/>
                </a:lnTo>
                <a:lnTo>
                  <a:pt x="0" y="10840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028700" y="8174284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1098886" y="0"/>
                </a:moveTo>
                <a:lnTo>
                  <a:pt x="0" y="0"/>
                </a:lnTo>
                <a:lnTo>
                  <a:pt x="0" y="1084016"/>
                </a:lnTo>
                <a:lnTo>
                  <a:pt x="1098886" y="1084016"/>
                </a:lnTo>
                <a:lnTo>
                  <a:pt x="10988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364497" y="4415922"/>
            <a:ext cx="1507224" cy="1455156"/>
          </a:xfrm>
          <a:custGeom>
            <a:avLst/>
            <a:gdLst/>
            <a:ahLst/>
            <a:cxnLst/>
            <a:rect l="l" t="t" r="r" b="b"/>
            <a:pathLst>
              <a:path w="1507224" h="1455156">
                <a:moveTo>
                  <a:pt x="0" y="0"/>
                </a:moveTo>
                <a:lnTo>
                  <a:pt x="1507224" y="0"/>
                </a:lnTo>
                <a:lnTo>
                  <a:pt x="1507224" y="1455156"/>
                </a:lnTo>
                <a:lnTo>
                  <a:pt x="0" y="14551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435912" y="3827712"/>
            <a:ext cx="7585568" cy="2128325"/>
          </a:xfrm>
          <a:custGeom>
            <a:avLst/>
            <a:gdLst/>
            <a:ahLst/>
            <a:cxnLst/>
            <a:rect l="l" t="t" r="r" b="b"/>
            <a:pathLst>
              <a:path w="7585568" h="2128325">
                <a:moveTo>
                  <a:pt x="0" y="0"/>
                </a:moveTo>
                <a:lnTo>
                  <a:pt x="7585568" y="0"/>
                </a:lnTo>
                <a:lnTo>
                  <a:pt x="7585568" y="2128325"/>
                </a:lnTo>
                <a:lnTo>
                  <a:pt x="0" y="2128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435912" y="7001374"/>
            <a:ext cx="7585568" cy="2748899"/>
          </a:xfrm>
          <a:custGeom>
            <a:avLst/>
            <a:gdLst/>
            <a:ahLst/>
            <a:cxnLst/>
            <a:rect l="l" t="t" r="r" b="b"/>
            <a:pathLst>
              <a:path w="7585568" h="2748899">
                <a:moveTo>
                  <a:pt x="0" y="0"/>
                </a:moveTo>
                <a:lnTo>
                  <a:pt x="7585568" y="0"/>
                </a:lnTo>
                <a:lnTo>
                  <a:pt x="7585568" y="2748898"/>
                </a:lnTo>
                <a:lnTo>
                  <a:pt x="0" y="274889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18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94348" y="513805"/>
            <a:ext cx="9899304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Doctor &amp; Staff Performance Analysis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35912" y="2391566"/>
            <a:ext cx="11826591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3. Identify doctors who have handled the highest number of appointments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d.doctor_id, concat(d.first_name, ' ', d.last_name) as full_name, count(a.appointment_id) as total_appointment from doctors d left join appointments a on d.doctor_id = a.doctor_id group by doctor_id, full_name order by total_appointment Desc Limit 3;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435912" y="6251312"/>
            <a:ext cx="9427369" cy="67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4. Calculate the average years of experience per hospital branch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hospital_branch, avg(years_experience) from doctors group by hospital_branch;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28099"/>
            <a:ext cx="2164303" cy="2424372"/>
          </a:xfrm>
          <a:custGeom>
            <a:avLst/>
            <a:gdLst/>
            <a:ahLst/>
            <a:cxnLst/>
            <a:rect l="l" t="t" r="r" b="b"/>
            <a:pathLst>
              <a:path w="2164303" h="2424372">
                <a:moveTo>
                  <a:pt x="0" y="0"/>
                </a:moveTo>
                <a:lnTo>
                  <a:pt x="2164303" y="0"/>
                </a:lnTo>
                <a:lnTo>
                  <a:pt x="2164303" y="2424372"/>
                </a:lnTo>
                <a:lnTo>
                  <a:pt x="0" y="2424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60211" y="1975758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61604" y="8788644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6036324" y="5543550"/>
            <a:ext cx="7013272" cy="1386655"/>
          </a:xfrm>
          <a:custGeom>
            <a:avLst/>
            <a:gdLst/>
            <a:ahLst/>
            <a:cxnLst/>
            <a:rect l="l" t="t" r="r" b="b"/>
            <a:pathLst>
              <a:path w="7013272" h="1386655">
                <a:moveTo>
                  <a:pt x="0" y="0"/>
                </a:moveTo>
                <a:lnTo>
                  <a:pt x="7013272" y="0"/>
                </a:lnTo>
                <a:lnTo>
                  <a:pt x="7013272" y="1386655"/>
                </a:lnTo>
                <a:lnTo>
                  <a:pt x="0" y="138665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19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164426" y="394315"/>
            <a:ext cx="8757068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Doctor &amp; Staff Performance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36324" y="3440938"/>
            <a:ext cx="7013272" cy="170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5. Find doctors who have no appointments scheduled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d.doctor_id, concat(d.first_name, ' ', d.last_name) as full_name, count(a.appointment_id) as total_appointment from doctors d left join appointments a on d.doctor_id = a.doctor_id group by doctor_id, full_name having total_appointment = 0;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598956" y="2842958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1098886" y="0"/>
                </a:moveTo>
                <a:lnTo>
                  <a:pt x="0" y="0"/>
                </a:lnTo>
                <a:lnTo>
                  <a:pt x="0" y="1084016"/>
                </a:lnTo>
                <a:lnTo>
                  <a:pt x="1098886" y="1084016"/>
                </a:lnTo>
                <a:lnTo>
                  <a:pt x="10988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16168" y="330011"/>
            <a:ext cx="2443964" cy="3054955"/>
          </a:xfrm>
          <a:custGeom>
            <a:avLst/>
            <a:gdLst/>
            <a:ahLst/>
            <a:cxnLst/>
            <a:rect l="l" t="t" r="r" b="b"/>
            <a:pathLst>
              <a:path w="2443964" h="3054955">
                <a:moveTo>
                  <a:pt x="0" y="0"/>
                </a:moveTo>
                <a:lnTo>
                  <a:pt x="2443964" y="0"/>
                </a:lnTo>
                <a:lnTo>
                  <a:pt x="2443964" y="3054955"/>
                </a:lnTo>
                <a:lnTo>
                  <a:pt x="0" y="30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609459" y="8027288"/>
            <a:ext cx="1501994" cy="2060092"/>
          </a:xfrm>
          <a:custGeom>
            <a:avLst/>
            <a:gdLst/>
            <a:ahLst/>
            <a:cxnLst/>
            <a:rect l="l" t="t" r="r" b="b"/>
            <a:pathLst>
              <a:path w="1501994" h="2060092">
                <a:moveTo>
                  <a:pt x="0" y="0"/>
                </a:moveTo>
                <a:lnTo>
                  <a:pt x="1501994" y="0"/>
                </a:lnTo>
                <a:lnTo>
                  <a:pt x="1501994" y="2060092"/>
                </a:lnTo>
                <a:lnTo>
                  <a:pt x="0" y="20600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3045000" y="4337315"/>
            <a:ext cx="4977168" cy="4475593"/>
          </a:xfrm>
          <a:custGeom>
            <a:avLst/>
            <a:gdLst/>
            <a:ahLst/>
            <a:cxnLst/>
            <a:rect l="l" t="t" r="r" b="b"/>
            <a:pathLst>
              <a:path w="4977168" h="4475593">
                <a:moveTo>
                  <a:pt x="0" y="0"/>
                </a:moveTo>
                <a:lnTo>
                  <a:pt x="4977168" y="0"/>
                </a:lnTo>
                <a:lnTo>
                  <a:pt x="4977168" y="4475593"/>
                </a:lnTo>
                <a:lnTo>
                  <a:pt x="0" y="447559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660496" y="4337315"/>
            <a:ext cx="5555673" cy="1437939"/>
          </a:xfrm>
          <a:custGeom>
            <a:avLst/>
            <a:gdLst/>
            <a:ahLst/>
            <a:cxnLst/>
            <a:rect l="l" t="t" r="r" b="b"/>
            <a:pathLst>
              <a:path w="5555673" h="1437939">
                <a:moveTo>
                  <a:pt x="0" y="0"/>
                </a:moveTo>
                <a:lnTo>
                  <a:pt x="5555672" y="0"/>
                </a:lnTo>
                <a:lnTo>
                  <a:pt x="5555672" y="1437939"/>
                </a:lnTo>
                <a:lnTo>
                  <a:pt x="0" y="143793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20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198575" y="463361"/>
            <a:ext cx="7890850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Appointment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045000" y="2224412"/>
            <a:ext cx="6272596" cy="2045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1. Count total appointments per month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month(appointment_date) as sr_number, monthname(appointment_date) as appointment_month, count(appointment_id) as count from appointments group by appointment_month, sr_number order by sr_number;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60496" y="2224412"/>
            <a:ext cx="5862969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2. Find the most common reason for visit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reason_for_visit, count(appointment_id) as count from appointments group by reason_for_visit order by count desc limit 1;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495998">
            <a:off x="12227926" y="1311506"/>
            <a:ext cx="1389288" cy="1389288"/>
          </a:xfrm>
          <a:custGeom>
            <a:avLst/>
            <a:gdLst/>
            <a:ahLst/>
            <a:cxnLst/>
            <a:rect l="l" t="t" r="r" b="b"/>
            <a:pathLst>
              <a:path w="1389288" h="1389288">
                <a:moveTo>
                  <a:pt x="0" y="0"/>
                </a:moveTo>
                <a:lnTo>
                  <a:pt x="1389288" y="0"/>
                </a:lnTo>
                <a:lnTo>
                  <a:pt x="1389288" y="1389288"/>
                </a:lnTo>
                <a:lnTo>
                  <a:pt x="0" y="13892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40444" y="1028700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022867" y="2582297"/>
            <a:ext cx="1312249" cy="1294492"/>
          </a:xfrm>
          <a:custGeom>
            <a:avLst/>
            <a:gdLst/>
            <a:ahLst/>
            <a:cxnLst/>
            <a:rect l="l" t="t" r="r" b="b"/>
            <a:pathLst>
              <a:path w="1312249" h="1294492">
                <a:moveTo>
                  <a:pt x="0" y="0"/>
                </a:moveTo>
                <a:lnTo>
                  <a:pt x="1312249" y="0"/>
                </a:lnTo>
                <a:lnTo>
                  <a:pt x="1312249" y="1294492"/>
                </a:lnTo>
                <a:lnTo>
                  <a:pt x="0" y="12944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74213" y="4370584"/>
            <a:ext cx="5236765" cy="1145542"/>
          </a:xfrm>
          <a:custGeom>
            <a:avLst/>
            <a:gdLst/>
            <a:ahLst/>
            <a:cxnLst/>
            <a:rect l="l" t="t" r="r" b="b"/>
            <a:pathLst>
              <a:path w="5236765" h="1145542">
                <a:moveTo>
                  <a:pt x="0" y="0"/>
                </a:moveTo>
                <a:lnTo>
                  <a:pt x="5236765" y="0"/>
                </a:lnTo>
                <a:lnTo>
                  <a:pt x="5236765" y="1145542"/>
                </a:lnTo>
                <a:lnTo>
                  <a:pt x="0" y="11455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736486" y="4723953"/>
            <a:ext cx="2446925" cy="4333381"/>
          </a:xfrm>
          <a:custGeom>
            <a:avLst/>
            <a:gdLst/>
            <a:ahLst/>
            <a:cxnLst/>
            <a:rect l="l" t="t" r="r" b="b"/>
            <a:pathLst>
              <a:path w="2446925" h="4333381">
                <a:moveTo>
                  <a:pt x="0" y="0"/>
                </a:moveTo>
                <a:lnTo>
                  <a:pt x="2446925" y="0"/>
                </a:lnTo>
                <a:lnTo>
                  <a:pt x="2446925" y="4333381"/>
                </a:lnTo>
                <a:lnTo>
                  <a:pt x="0" y="43333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474213" y="7923219"/>
            <a:ext cx="4219566" cy="800936"/>
          </a:xfrm>
          <a:custGeom>
            <a:avLst/>
            <a:gdLst/>
            <a:ahLst/>
            <a:cxnLst/>
            <a:rect l="l" t="t" r="r" b="b"/>
            <a:pathLst>
              <a:path w="4219566" h="800936">
                <a:moveTo>
                  <a:pt x="0" y="0"/>
                </a:moveTo>
                <a:lnTo>
                  <a:pt x="4219565" y="0"/>
                </a:lnTo>
                <a:lnTo>
                  <a:pt x="4219565" y="800936"/>
                </a:lnTo>
                <a:lnTo>
                  <a:pt x="0" y="8009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21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52844" y="486504"/>
            <a:ext cx="8164544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Appointment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74213" y="2544197"/>
            <a:ext cx="6148604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3. Identify the appointment cancellation rate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status, count(appointment_id) as cancellation_rate from appointments group by status having status = 'Cancelled';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36486" y="2735368"/>
            <a:ext cx="7939132" cy="170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4. Find patients who missed appointments (status = Cancelled or No-Show)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concat(p.first_name, ' ', p.last_name) as full_name, a.status from appointments a left join  patients p on a.patient_id=p.patient_id where status in ('Cancelled', 'No-show');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4101" y="5677732"/>
            <a:ext cx="7177866" cy="2045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5. Determine the busiest doctor based on number of appointments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d.doctor_id, concat(d.first_name, ' ', d.last_name) as full_name, count(a.appointment_id) as count from appointments a left join doctors d on a.doctor_id = d.doctor_id group by full_name, doctor_id order by count desc limit 1;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28099"/>
            <a:ext cx="2164303" cy="2424372"/>
          </a:xfrm>
          <a:custGeom>
            <a:avLst/>
            <a:gdLst/>
            <a:ahLst/>
            <a:cxnLst/>
            <a:rect l="l" t="t" r="r" b="b"/>
            <a:pathLst>
              <a:path w="2164303" h="2424372">
                <a:moveTo>
                  <a:pt x="0" y="0"/>
                </a:moveTo>
                <a:lnTo>
                  <a:pt x="2164303" y="0"/>
                </a:lnTo>
                <a:lnTo>
                  <a:pt x="2164303" y="2424372"/>
                </a:lnTo>
                <a:lnTo>
                  <a:pt x="0" y="2424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60211" y="1975758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61604" y="8788644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595413" y="4215183"/>
            <a:ext cx="4279275" cy="2819287"/>
          </a:xfrm>
          <a:custGeom>
            <a:avLst/>
            <a:gdLst/>
            <a:ahLst/>
            <a:cxnLst/>
            <a:rect l="l" t="t" r="r" b="b"/>
            <a:pathLst>
              <a:path w="4279275" h="2819287">
                <a:moveTo>
                  <a:pt x="0" y="0"/>
                </a:moveTo>
                <a:lnTo>
                  <a:pt x="4279275" y="0"/>
                </a:lnTo>
                <a:lnTo>
                  <a:pt x="4279275" y="2819287"/>
                </a:lnTo>
                <a:lnTo>
                  <a:pt x="0" y="281928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207678" y="5143500"/>
            <a:ext cx="5083037" cy="1214281"/>
          </a:xfrm>
          <a:custGeom>
            <a:avLst/>
            <a:gdLst/>
            <a:ahLst/>
            <a:cxnLst/>
            <a:rect l="l" t="t" r="r" b="b"/>
            <a:pathLst>
              <a:path w="5083037" h="1214281">
                <a:moveTo>
                  <a:pt x="0" y="0"/>
                </a:moveTo>
                <a:lnTo>
                  <a:pt x="5083037" y="0"/>
                </a:lnTo>
                <a:lnTo>
                  <a:pt x="5083037" y="1214281"/>
                </a:lnTo>
                <a:lnTo>
                  <a:pt x="0" y="1214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902308" y="4161880"/>
            <a:ext cx="5356992" cy="2872590"/>
          </a:xfrm>
          <a:custGeom>
            <a:avLst/>
            <a:gdLst/>
            <a:ahLst/>
            <a:cxnLst/>
            <a:rect l="l" t="t" r="r" b="b"/>
            <a:pathLst>
              <a:path w="5356992" h="2872590">
                <a:moveTo>
                  <a:pt x="0" y="0"/>
                </a:moveTo>
                <a:lnTo>
                  <a:pt x="5356992" y="0"/>
                </a:lnTo>
                <a:lnTo>
                  <a:pt x="5356992" y="2872590"/>
                </a:lnTo>
                <a:lnTo>
                  <a:pt x="0" y="287259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22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81677" y="263832"/>
            <a:ext cx="8757068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Treatment &amp; Medical Insights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5413" y="2329730"/>
            <a:ext cx="5181064" cy="170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1. Count the number of treatments per treatment type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treatment_type, count(treatment_id) as count from treatments group by treatment_type;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207678" y="3791329"/>
            <a:ext cx="5083037" cy="101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2. Find the most expensive treatment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treatment_type, cost from treatments order by cost desc limit 1;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02308" y="3015530"/>
            <a:ext cx="5356992" cy="101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3. Calculate the average treatment cost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treatment_type, avg(cost) as average_cost from treatments group by treatment_type;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1307" y="-1574531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5" y="0"/>
                </a:lnTo>
                <a:lnTo>
                  <a:pt x="6026955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270627" y="-1659817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6026955" y="0"/>
                </a:moveTo>
                <a:lnTo>
                  <a:pt x="0" y="0"/>
                </a:lnTo>
                <a:lnTo>
                  <a:pt x="0" y="4646234"/>
                </a:lnTo>
                <a:lnTo>
                  <a:pt x="6026955" y="4646234"/>
                </a:lnTo>
                <a:lnTo>
                  <a:pt x="60269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522487" y="6773198"/>
            <a:ext cx="2356988" cy="2284136"/>
          </a:xfrm>
          <a:custGeom>
            <a:avLst/>
            <a:gdLst/>
            <a:ahLst/>
            <a:cxnLst/>
            <a:rect l="l" t="t" r="r" b="b"/>
            <a:pathLst>
              <a:path w="2356988" h="2284136">
                <a:moveTo>
                  <a:pt x="0" y="0"/>
                </a:moveTo>
                <a:lnTo>
                  <a:pt x="2356988" y="0"/>
                </a:lnTo>
                <a:lnTo>
                  <a:pt x="2356988" y="2284136"/>
                </a:lnTo>
                <a:lnTo>
                  <a:pt x="0" y="2284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094997" y="3429920"/>
            <a:ext cx="1211969" cy="1195569"/>
          </a:xfrm>
          <a:custGeom>
            <a:avLst/>
            <a:gdLst/>
            <a:ahLst/>
            <a:cxnLst/>
            <a:rect l="l" t="t" r="r" b="b"/>
            <a:pathLst>
              <a:path w="1211969" h="1195569">
                <a:moveTo>
                  <a:pt x="0" y="0"/>
                </a:moveTo>
                <a:lnTo>
                  <a:pt x="1211969" y="0"/>
                </a:lnTo>
                <a:lnTo>
                  <a:pt x="1211969" y="1195568"/>
                </a:lnTo>
                <a:lnTo>
                  <a:pt x="0" y="11955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28700" y="5553075"/>
            <a:ext cx="6200879" cy="771538"/>
          </a:xfrm>
          <a:custGeom>
            <a:avLst/>
            <a:gdLst/>
            <a:ahLst/>
            <a:cxnLst/>
            <a:rect l="l" t="t" r="r" b="b"/>
            <a:pathLst>
              <a:path w="6200879" h="771538">
                <a:moveTo>
                  <a:pt x="0" y="0"/>
                </a:moveTo>
                <a:lnTo>
                  <a:pt x="6200879" y="0"/>
                </a:lnTo>
                <a:lnTo>
                  <a:pt x="6200879" y="771538"/>
                </a:lnTo>
                <a:lnTo>
                  <a:pt x="0" y="7715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736574" y="5143500"/>
            <a:ext cx="6340555" cy="1077480"/>
          </a:xfrm>
          <a:custGeom>
            <a:avLst/>
            <a:gdLst/>
            <a:ahLst/>
            <a:cxnLst/>
            <a:rect l="l" t="t" r="r" b="b"/>
            <a:pathLst>
              <a:path w="6340555" h="1077480">
                <a:moveTo>
                  <a:pt x="0" y="0"/>
                </a:moveTo>
                <a:lnTo>
                  <a:pt x="6340555" y="0"/>
                </a:lnTo>
                <a:lnTo>
                  <a:pt x="6340555" y="1077480"/>
                </a:lnTo>
                <a:lnTo>
                  <a:pt x="0" y="107748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49941" y="728271"/>
            <a:ext cx="8015787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Treatment &amp; Medical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23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440430"/>
            <a:ext cx="5691297" cy="1703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29"/>
              </a:lnSpc>
              <a:spcBef>
                <a:spcPct val="0"/>
              </a:spcBef>
            </a:pPr>
            <a:r>
              <a:rPr lang="en-US" sz="195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4. List appointments that resulted in multiple treatments</a:t>
            </a:r>
          </a:p>
          <a:p>
            <a:pPr algn="l">
              <a:lnSpc>
                <a:spcPts val="2729"/>
              </a:lnSpc>
              <a:spcBef>
                <a:spcPct val="0"/>
              </a:spcBef>
            </a:pPr>
            <a:r>
              <a:rPr lang="en-US" sz="195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appointment_id, count(treatment_id) AS treatment_count from treatments t group by appointment_id having count(treatment_id) &gt; 1;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36574" y="3440430"/>
            <a:ext cx="6340555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5.  Identify treatments that were never billed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t.treatment_id, b.bill_id from treatments t left join billing b on t.treatment_id = b.treatment_id where b.bill_id is null;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6037318" y="-133378"/>
            <a:ext cx="2443964" cy="3054955"/>
          </a:xfrm>
          <a:custGeom>
            <a:avLst/>
            <a:gdLst/>
            <a:ahLst/>
            <a:cxnLst/>
            <a:rect l="l" t="t" r="r" b="b"/>
            <a:pathLst>
              <a:path w="2443964" h="3054955">
                <a:moveTo>
                  <a:pt x="0" y="0"/>
                </a:moveTo>
                <a:lnTo>
                  <a:pt x="2443964" y="0"/>
                </a:lnTo>
                <a:lnTo>
                  <a:pt x="2443964" y="3054955"/>
                </a:lnTo>
                <a:lnTo>
                  <a:pt x="0" y="30549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1652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9321060" y="2115878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622281" y="8788644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654960" y="1675548"/>
            <a:ext cx="3235348" cy="1346753"/>
          </a:xfrm>
          <a:custGeom>
            <a:avLst/>
            <a:gdLst/>
            <a:ahLst/>
            <a:cxnLst/>
            <a:rect l="l" t="t" r="r" b="b"/>
            <a:pathLst>
              <a:path w="3235348" h="1346753">
                <a:moveTo>
                  <a:pt x="0" y="0"/>
                </a:moveTo>
                <a:lnTo>
                  <a:pt x="3235348" y="0"/>
                </a:lnTo>
                <a:lnTo>
                  <a:pt x="3235348" y="1346752"/>
                </a:lnTo>
                <a:lnTo>
                  <a:pt x="0" y="13467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79030" y="3659265"/>
            <a:ext cx="4264004" cy="1676446"/>
          </a:xfrm>
          <a:custGeom>
            <a:avLst/>
            <a:gdLst/>
            <a:ahLst/>
            <a:cxnLst/>
            <a:rect l="l" t="t" r="r" b="b"/>
            <a:pathLst>
              <a:path w="4264004" h="1676446">
                <a:moveTo>
                  <a:pt x="0" y="0"/>
                </a:moveTo>
                <a:lnTo>
                  <a:pt x="4264004" y="0"/>
                </a:lnTo>
                <a:lnTo>
                  <a:pt x="4264004" y="1676446"/>
                </a:lnTo>
                <a:lnTo>
                  <a:pt x="0" y="16764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175177" y="4217041"/>
            <a:ext cx="4132410" cy="4571603"/>
          </a:xfrm>
          <a:custGeom>
            <a:avLst/>
            <a:gdLst/>
            <a:ahLst/>
            <a:cxnLst/>
            <a:rect l="l" t="t" r="r" b="b"/>
            <a:pathLst>
              <a:path w="4132410" h="4571603">
                <a:moveTo>
                  <a:pt x="0" y="0"/>
                </a:moveTo>
                <a:lnTo>
                  <a:pt x="4132410" y="0"/>
                </a:lnTo>
                <a:lnTo>
                  <a:pt x="4132410" y="4571603"/>
                </a:lnTo>
                <a:lnTo>
                  <a:pt x="0" y="457160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503463" y="541780"/>
            <a:ext cx="12089150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Billing &amp; Revenue Analysis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24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9030" y="2666319"/>
            <a:ext cx="5935563" cy="673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1. Calculate total revenue generated by the hospital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sum(amount) as total_revenue from billing;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75177" y="2666319"/>
            <a:ext cx="6959567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2. Find total revenue per month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month(bill_date) as sr_no, monthname(bill_date) as month, sum(amount) from billing group by month,sr_no order by sr_no asc;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28099"/>
            <a:ext cx="2164303" cy="2424372"/>
          </a:xfrm>
          <a:custGeom>
            <a:avLst/>
            <a:gdLst/>
            <a:ahLst/>
            <a:cxnLst/>
            <a:rect l="l" t="t" r="r" b="b"/>
            <a:pathLst>
              <a:path w="2164303" h="2424372">
                <a:moveTo>
                  <a:pt x="0" y="0"/>
                </a:moveTo>
                <a:lnTo>
                  <a:pt x="2164303" y="0"/>
                </a:lnTo>
                <a:lnTo>
                  <a:pt x="2164303" y="2424372"/>
                </a:lnTo>
                <a:lnTo>
                  <a:pt x="0" y="2424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960211" y="1975758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461604" y="8788644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545828" y="4292879"/>
            <a:ext cx="6272596" cy="2858078"/>
          </a:xfrm>
          <a:custGeom>
            <a:avLst/>
            <a:gdLst/>
            <a:ahLst/>
            <a:cxnLst/>
            <a:rect l="l" t="t" r="r" b="b"/>
            <a:pathLst>
              <a:path w="6272596" h="2858078">
                <a:moveTo>
                  <a:pt x="0" y="0"/>
                </a:moveTo>
                <a:lnTo>
                  <a:pt x="6272597" y="0"/>
                </a:lnTo>
                <a:lnTo>
                  <a:pt x="6272597" y="2858078"/>
                </a:lnTo>
                <a:lnTo>
                  <a:pt x="0" y="28580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279950" y="3624041"/>
            <a:ext cx="4100510" cy="1488088"/>
          </a:xfrm>
          <a:custGeom>
            <a:avLst/>
            <a:gdLst/>
            <a:ahLst/>
            <a:cxnLst/>
            <a:rect l="l" t="t" r="r" b="b"/>
            <a:pathLst>
              <a:path w="4100510" h="1488088">
                <a:moveTo>
                  <a:pt x="0" y="0"/>
                </a:moveTo>
                <a:lnTo>
                  <a:pt x="4100510" y="0"/>
                </a:lnTo>
                <a:lnTo>
                  <a:pt x="4100510" y="1488088"/>
                </a:lnTo>
                <a:lnTo>
                  <a:pt x="0" y="148808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273041" y="7109966"/>
            <a:ext cx="4821956" cy="1171436"/>
          </a:xfrm>
          <a:custGeom>
            <a:avLst/>
            <a:gdLst/>
            <a:ahLst/>
            <a:cxnLst/>
            <a:rect l="l" t="t" r="r" b="b"/>
            <a:pathLst>
              <a:path w="4821956" h="1171436">
                <a:moveTo>
                  <a:pt x="0" y="0"/>
                </a:moveTo>
                <a:lnTo>
                  <a:pt x="4821956" y="0"/>
                </a:lnTo>
                <a:lnTo>
                  <a:pt x="4821956" y="1171436"/>
                </a:lnTo>
                <a:lnTo>
                  <a:pt x="0" y="117143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25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09904" y="644832"/>
            <a:ext cx="9619470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Billing &amp; Revenue Analysis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5828" y="2414371"/>
            <a:ext cx="6272596" cy="170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3. Identify the top 5 patients by total billing amount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p.patient_id, concat(p.first_name, ' ', p.last_name) as full_name, sum(b.amount) as amount from billing b left join patients p on b.patient_id = p.patient_id group by full_name, patient_id order by amount desc limit 5;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79950" y="2390869"/>
            <a:ext cx="6158201" cy="101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4. Calculate pending (unpaid) amount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sum(amount) as unpaid_amount from billing where payment_status in ('Pending', 'Failed');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79950" y="5531229"/>
            <a:ext cx="6158201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5. Find the most common payment method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payment_method, count(bill_id) as count from billing group by payment_method order by count desc limit 1;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84240" y="-1627189"/>
            <a:ext cx="5208512" cy="4015289"/>
          </a:xfrm>
          <a:custGeom>
            <a:avLst/>
            <a:gdLst/>
            <a:ahLst/>
            <a:cxnLst/>
            <a:rect l="l" t="t" r="r" b="b"/>
            <a:pathLst>
              <a:path w="5208512" h="4015289">
                <a:moveTo>
                  <a:pt x="0" y="0"/>
                </a:moveTo>
                <a:lnTo>
                  <a:pt x="5208512" y="0"/>
                </a:lnTo>
                <a:lnTo>
                  <a:pt x="5208512" y="4015289"/>
                </a:lnTo>
                <a:lnTo>
                  <a:pt x="0" y="40152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3563728" y="-1627189"/>
            <a:ext cx="5208512" cy="4015289"/>
          </a:xfrm>
          <a:custGeom>
            <a:avLst/>
            <a:gdLst/>
            <a:ahLst/>
            <a:cxnLst/>
            <a:rect l="l" t="t" r="r" b="b"/>
            <a:pathLst>
              <a:path w="5208512" h="4015289">
                <a:moveTo>
                  <a:pt x="5208512" y="0"/>
                </a:moveTo>
                <a:lnTo>
                  <a:pt x="0" y="0"/>
                </a:lnTo>
                <a:lnTo>
                  <a:pt x="0" y="4015289"/>
                </a:lnTo>
                <a:lnTo>
                  <a:pt x="5208512" y="4015289"/>
                </a:lnTo>
                <a:lnTo>
                  <a:pt x="520851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16528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96504" y="2645275"/>
            <a:ext cx="3322001" cy="890344"/>
            <a:chOff x="0" y="0"/>
            <a:chExt cx="936148" cy="2509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36148" cy="250901"/>
            </a:xfrm>
            <a:custGeom>
              <a:avLst/>
              <a:gdLst/>
              <a:ahLst/>
              <a:cxnLst/>
              <a:rect l="l" t="t" r="r" b="b"/>
              <a:pathLst>
                <a:path w="936148" h="250901">
                  <a:moveTo>
                    <a:pt x="37288" y="0"/>
                  </a:moveTo>
                  <a:lnTo>
                    <a:pt x="898860" y="0"/>
                  </a:lnTo>
                  <a:cubicBezTo>
                    <a:pt x="908749" y="0"/>
                    <a:pt x="918233" y="3929"/>
                    <a:pt x="925226" y="10921"/>
                  </a:cubicBezTo>
                  <a:cubicBezTo>
                    <a:pt x="932219" y="17914"/>
                    <a:pt x="936148" y="27399"/>
                    <a:pt x="936148" y="37288"/>
                  </a:cubicBezTo>
                  <a:lnTo>
                    <a:pt x="936148" y="213613"/>
                  </a:lnTo>
                  <a:cubicBezTo>
                    <a:pt x="936148" y="223502"/>
                    <a:pt x="932219" y="232987"/>
                    <a:pt x="925226" y="239980"/>
                  </a:cubicBezTo>
                  <a:cubicBezTo>
                    <a:pt x="918233" y="246973"/>
                    <a:pt x="908749" y="250901"/>
                    <a:pt x="898860" y="250901"/>
                  </a:cubicBezTo>
                  <a:lnTo>
                    <a:pt x="37288" y="250901"/>
                  </a:lnTo>
                  <a:cubicBezTo>
                    <a:pt x="27399" y="250901"/>
                    <a:pt x="17914" y="246973"/>
                    <a:pt x="10921" y="239980"/>
                  </a:cubicBezTo>
                  <a:cubicBezTo>
                    <a:pt x="3929" y="232987"/>
                    <a:pt x="0" y="223502"/>
                    <a:pt x="0" y="213613"/>
                  </a:cubicBezTo>
                  <a:lnTo>
                    <a:pt x="0" y="37288"/>
                  </a:lnTo>
                  <a:cubicBezTo>
                    <a:pt x="0" y="27399"/>
                    <a:pt x="3929" y="17914"/>
                    <a:pt x="10921" y="10921"/>
                  </a:cubicBezTo>
                  <a:cubicBezTo>
                    <a:pt x="17914" y="3929"/>
                    <a:pt x="27399" y="0"/>
                    <a:pt x="37288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936148" cy="193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262502" y="2645275"/>
            <a:ext cx="3322001" cy="890344"/>
            <a:chOff x="0" y="0"/>
            <a:chExt cx="936148" cy="2509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6148" cy="250901"/>
            </a:xfrm>
            <a:custGeom>
              <a:avLst/>
              <a:gdLst/>
              <a:ahLst/>
              <a:cxnLst/>
              <a:rect l="l" t="t" r="r" b="b"/>
              <a:pathLst>
                <a:path w="936148" h="250901">
                  <a:moveTo>
                    <a:pt x="37288" y="0"/>
                  </a:moveTo>
                  <a:lnTo>
                    <a:pt x="898860" y="0"/>
                  </a:lnTo>
                  <a:cubicBezTo>
                    <a:pt x="908749" y="0"/>
                    <a:pt x="918233" y="3929"/>
                    <a:pt x="925226" y="10921"/>
                  </a:cubicBezTo>
                  <a:cubicBezTo>
                    <a:pt x="932219" y="17914"/>
                    <a:pt x="936148" y="27399"/>
                    <a:pt x="936148" y="37288"/>
                  </a:cubicBezTo>
                  <a:lnTo>
                    <a:pt x="936148" y="213613"/>
                  </a:lnTo>
                  <a:cubicBezTo>
                    <a:pt x="936148" y="223502"/>
                    <a:pt x="932219" y="232987"/>
                    <a:pt x="925226" y="239980"/>
                  </a:cubicBezTo>
                  <a:cubicBezTo>
                    <a:pt x="918233" y="246973"/>
                    <a:pt x="908749" y="250901"/>
                    <a:pt x="898860" y="250901"/>
                  </a:cubicBezTo>
                  <a:lnTo>
                    <a:pt x="37288" y="250901"/>
                  </a:lnTo>
                  <a:cubicBezTo>
                    <a:pt x="27399" y="250901"/>
                    <a:pt x="17914" y="246973"/>
                    <a:pt x="10921" y="239980"/>
                  </a:cubicBezTo>
                  <a:cubicBezTo>
                    <a:pt x="3929" y="232987"/>
                    <a:pt x="0" y="223502"/>
                    <a:pt x="0" y="213613"/>
                  </a:cubicBezTo>
                  <a:lnTo>
                    <a:pt x="0" y="37288"/>
                  </a:lnTo>
                  <a:cubicBezTo>
                    <a:pt x="0" y="27399"/>
                    <a:pt x="3929" y="17914"/>
                    <a:pt x="10921" y="10921"/>
                  </a:cubicBezTo>
                  <a:cubicBezTo>
                    <a:pt x="17914" y="3929"/>
                    <a:pt x="27399" y="0"/>
                    <a:pt x="37288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57150"/>
              <a:ext cx="936148" cy="193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5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374060" y="5414029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0" y="0"/>
                </a:moveTo>
                <a:lnTo>
                  <a:pt x="1098886" y="0"/>
                </a:lnTo>
                <a:lnTo>
                  <a:pt x="1098886" y="1084016"/>
                </a:lnTo>
                <a:lnTo>
                  <a:pt x="0" y="10840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028700" y="8174284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1098886" y="0"/>
                </a:moveTo>
                <a:lnTo>
                  <a:pt x="0" y="0"/>
                </a:lnTo>
                <a:lnTo>
                  <a:pt x="0" y="1084016"/>
                </a:lnTo>
                <a:lnTo>
                  <a:pt x="1098886" y="1084016"/>
                </a:lnTo>
                <a:lnTo>
                  <a:pt x="10988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78143" y="4346156"/>
            <a:ext cx="1507224" cy="1455156"/>
          </a:xfrm>
          <a:custGeom>
            <a:avLst/>
            <a:gdLst/>
            <a:ahLst/>
            <a:cxnLst/>
            <a:rect l="l" t="t" r="r" b="b"/>
            <a:pathLst>
              <a:path w="1507224" h="1455156">
                <a:moveTo>
                  <a:pt x="0" y="0"/>
                </a:moveTo>
                <a:lnTo>
                  <a:pt x="1507224" y="0"/>
                </a:lnTo>
                <a:lnTo>
                  <a:pt x="1507224" y="1455156"/>
                </a:lnTo>
                <a:lnTo>
                  <a:pt x="0" y="14551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3318241" y="5414029"/>
            <a:ext cx="5246357" cy="3971666"/>
          </a:xfrm>
          <a:custGeom>
            <a:avLst/>
            <a:gdLst/>
            <a:ahLst/>
            <a:cxnLst/>
            <a:rect l="l" t="t" r="r" b="b"/>
            <a:pathLst>
              <a:path w="5246357" h="3971666">
                <a:moveTo>
                  <a:pt x="0" y="0"/>
                </a:moveTo>
                <a:lnTo>
                  <a:pt x="5246356" y="0"/>
                </a:lnTo>
                <a:lnTo>
                  <a:pt x="5246356" y="3971666"/>
                </a:lnTo>
                <a:lnTo>
                  <a:pt x="0" y="39716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26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18722" y="685654"/>
            <a:ext cx="6278223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Advanced JOIN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18241" y="2724914"/>
            <a:ext cx="6134469" cy="2516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6"/>
              </a:lnSpc>
              <a:spcBef>
                <a:spcPct val="0"/>
              </a:spcBef>
            </a:pPr>
            <a:r>
              <a:rPr lang="en-US" sz="179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1. Display patient name, doctor name, appointment date, and treatment cost</a:t>
            </a:r>
          </a:p>
          <a:p>
            <a:pPr algn="l">
              <a:lnSpc>
                <a:spcPts val="2506"/>
              </a:lnSpc>
              <a:spcBef>
                <a:spcPct val="0"/>
              </a:spcBef>
            </a:pPr>
            <a:r>
              <a:rPr lang="en-US" sz="179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concat(p.first_name, ' ', p.last_name) as patient_name, concat(d.first_name, ' ', d.last_name) as doctor_name, a.appointment_date, t.cost as treatment_cost from appointments a left join patients p on p.patient_id = a.patient_id left join doctors d on a.doctor_id = d.doctor_id left join treatments t on a.appointment_id = t.appointment_id;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81309" y="2734439"/>
            <a:ext cx="5413687" cy="2731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2. Find doctors whose patients generated the highest total revenue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concat(d.first_name, ' ', d.last_name) as doctor_name, sum(b.amount) as revenue from appointments a left join doctors d on d.doctor_id = a.doctor_id left join billing b on a.patient_id = b.patient_id group by doctor_name order by revenue desc limit 1;</a:t>
            </a:r>
          </a:p>
        </p:txBody>
      </p:sp>
      <p:sp>
        <p:nvSpPr>
          <p:cNvPr id="21" name="Freeform 21"/>
          <p:cNvSpPr/>
          <p:nvPr/>
        </p:nvSpPr>
        <p:spPr>
          <a:xfrm>
            <a:off x="9681309" y="5801312"/>
            <a:ext cx="3710357" cy="906976"/>
          </a:xfrm>
          <a:custGeom>
            <a:avLst/>
            <a:gdLst/>
            <a:ahLst/>
            <a:cxnLst/>
            <a:rect l="l" t="t" r="r" b="b"/>
            <a:pathLst>
              <a:path w="3710357" h="906976">
                <a:moveTo>
                  <a:pt x="0" y="0"/>
                </a:moveTo>
                <a:lnTo>
                  <a:pt x="3710358" y="0"/>
                </a:lnTo>
                <a:lnTo>
                  <a:pt x="3710358" y="906977"/>
                </a:lnTo>
                <a:lnTo>
                  <a:pt x="0" y="90697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495998">
            <a:off x="12227926" y="1311506"/>
            <a:ext cx="1389288" cy="1389288"/>
          </a:xfrm>
          <a:custGeom>
            <a:avLst/>
            <a:gdLst/>
            <a:ahLst/>
            <a:cxnLst/>
            <a:rect l="l" t="t" r="r" b="b"/>
            <a:pathLst>
              <a:path w="1389288" h="1389288">
                <a:moveTo>
                  <a:pt x="0" y="0"/>
                </a:moveTo>
                <a:lnTo>
                  <a:pt x="1389288" y="0"/>
                </a:lnTo>
                <a:lnTo>
                  <a:pt x="1389288" y="1389288"/>
                </a:lnTo>
                <a:lnTo>
                  <a:pt x="0" y="13892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340444" y="1028700"/>
            <a:ext cx="918856" cy="906422"/>
          </a:xfrm>
          <a:custGeom>
            <a:avLst/>
            <a:gdLst/>
            <a:ahLst/>
            <a:cxnLst/>
            <a:rect l="l" t="t" r="r" b="b"/>
            <a:pathLst>
              <a:path w="918856" h="906422">
                <a:moveTo>
                  <a:pt x="0" y="0"/>
                </a:moveTo>
                <a:lnTo>
                  <a:pt x="918856" y="0"/>
                </a:lnTo>
                <a:lnTo>
                  <a:pt x="918856" y="906422"/>
                </a:lnTo>
                <a:lnTo>
                  <a:pt x="0" y="90642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764415" y="2683168"/>
            <a:ext cx="1312249" cy="1294492"/>
          </a:xfrm>
          <a:custGeom>
            <a:avLst/>
            <a:gdLst/>
            <a:ahLst/>
            <a:cxnLst/>
            <a:rect l="l" t="t" r="r" b="b"/>
            <a:pathLst>
              <a:path w="1312249" h="1294492">
                <a:moveTo>
                  <a:pt x="0" y="0"/>
                </a:moveTo>
                <a:lnTo>
                  <a:pt x="1312249" y="0"/>
                </a:lnTo>
                <a:lnTo>
                  <a:pt x="1312249" y="1294492"/>
                </a:lnTo>
                <a:lnTo>
                  <a:pt x="0" y="129449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552297" y="5143500"/>
            <a:ext cx="6566277" cy="828006"/>
          </a:xfrm>
          <a:custGeom>
            <a:avLst/>
            <a:gdLst/>
            <a:ahLst/>
            <a:cxnLst/>
            <a:rect l="l" t="t" r="r" b="b"/>
            <a:pathLst>
              <a:path w="6566277" h="828006">
                <a:moveTo>
                  <a:pt x="0" y="0"/>
                </a:moveTo>
                <a:lnTo>
                  <a:pt x="6566278" y="0"/>
                </a:lnTo>
                <a:lnTo>
                  <a:pt x="6566278" y="828006"/>
                </a:lnTo>
                <a:lnTo>
                  <a:pt x="0" y="8280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606653" y="3979846"/>
            <a:ext cx="4178776" cy="5278454"/>
          </a:xfrm>
          <a:custGeom>
            <a:avLst/>
            <a:gdLst/>
            <a:ahLst/>
            <a:cxnLst/>
            <a:rect l="l" t="t" r="r" b="b"/>
            <a:pathLst>
              <a:path w="4178776" h="5278454">
                <a:moveTo>
                  <a:pt x="0" y="0"/>
                </a:moveTo>
                <a:lnTo>
                  <a:pt x="4178776" y="0"/>
                </a:lnTo>
                <a:lnTo>
                  <a:pt x="4178776" y="5278454"/>
                </a:lnTo>
                <a:lnTo>
                  <a:pt x="0" y="527845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52297" y="7801394"/>
            <a:ext cx="4383968" cy="1771759"/>
          </a:xfrm>
          <a:custGeom>
            <a:avLst/>
            <a:gdLst/>
            <a:ahLst/>
            <a:cxnLst/>
            <a:rect l="l" t="t" r="r" b="b"/>
            <a:pathLst>
              <a:path w="4383968" h="1771759">
                <a:moveTo>
                  <a:pt x="0" y="0"/>
                </a:moveTo>
                <a:lnTo>
                  <a:pt x="4383969" y="0"/>
                </a:lnTo>
                <a:lnTo>
                  <a:pt x="4383969" y="1771759"/>
                </a:lnTo>
                <a:lnTo>
                  <a:pt x="0" y="177175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27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07063" y="506945"/>
            <a:ext cx="10473873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Advanced JOIN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52297" y="2450338"/>
            <a:ext cx="7212117" cy="2388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3. Identify patients who had appointments but no treatments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p.patient_id, concat(p.first_name, ' ', p.last_name) as patient_name, a.appointment_id, sum(t.treatment_id) as treatments from appointments a left join patients p on a.patient_id = p.patient_id left join treatments t on a.appointment_id = t.appointment_id group by p.patient_id, patient_name, a.appointment_id  having count(t.treatment_id)=0;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06653" y="2645068"/>
            <a:ext cx="7208954" cy="101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4. Find treatments along with billing payment status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t.treatment_id, b.bill_id, b.payment_status from treatments t left join billing b on t.treatment_id = b.treatment_id;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552297" y="6236302"/>
            <a:ext cx="7868242" cy="1359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5. Show hospital branch-wise total revenue generated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d.hospital_branch, sum(t.cost) as revenue from appointments a left join doctors d on a.doctor_id = d.doctor_id left join treatments t on a.appointment_id = t.appointment_id group by hospital_branch;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941307" y="-1574531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5" y="0"/>
                </a:lnTo>
                <a:lnTo>
                  <a:pt x="6026955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270627" y="-1659817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6026955" y="0"/>
                </a:moveTo>
                <a:lnTo>
                  <a:pt x="0" y="0"/>
                </a:lnTo>
                <a:lnTo>
                  <a:pt x="0" y="4646234"/>
                </a:lnTo>
                <a:lnTo>
                  <a:pt x="6026955" y="4646234"/>
                </a:lnTo>
                <a:lnTo>
                  <a:pt x="60269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522487" y="6773198"/>
            <a:ext cx="2356988" cy="2284136"/>
          </a:xfrm>
          <a:custGeom>
            <a:avLst/>
            <a:gdLst/>
            <a:ahLst/>
            <a:cxnLst/>
            <a:rect l="l" t="t" r="r" b="b"/>
            <a:pathLst>
              <a:path w="2356988" h="2284136">
                <a:moveTo>
                  <a:pt x="0" y="0"/>
                </a:moveTo>
                <a:lnTo>
                  <a:pt x="2356988" y="0"/>
                </a:lnTo>
                <a:lnTo>
                  <a:pt x="2356988" y="2284136"/>
                </a:lnTo>
                <a:lnTo>
                  <a:pt x="0" y="22841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094997" y="3429920"/>
            <a:ext cx="1211969" cy="1195569"/>
          </a:xfrm>
          <a:custGeom>
            <a:avLst/>
            <a:gdLst/>
            <a:ahLst/>
            <a:cxnLst/>
            <a:rect l="l" t="t" r="r" b="b"/>
            <a:pathLst>
              <a:path w="1211969" h="1195569">
                <a:moveTo>
                  <a:pt x="0" y="0"/>
                </a:moveTo>
                <a:lnTo>
                  <a:pt x="1211969" y="0"/>
                </a:lnTo>
                <a:lnTo>
                  <a:pt x="1211969" y="1195568"/>
                </a:lnTo>
                <a:lnTo>
                  <a:pt x="0" y="11955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378566" y="5980083"/>
            <a:ext cx="4977262" cy="4108889"/>
          </a:xfrm>
          <a:custGeom>
            <a:avLst/>
            <a:gdLst/>
            <a:ahLst/>
            <a:cxnLst/>
            <a:rect l="l" t="t" r="r" b="b"/>
            <a:pathLst>
              <a:path w="4977262" h="4108889">
                <a:moveTo>
                  <a:pt x="0" y="0"/>
                </a:moveTo>
                <a:lnTo>
                  <a:pt x="4977262" y="0"/>
                </a:lnTo>
                <a:lnTo>
                  <a:pt x="4977262" y="4108889"/>
                </a:lnTo>
                <a:lnTo>
                  <a:pt x="0" y="410888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028700" y="5669560"/>
            <a:ext cx="2505663" cy="4327964"/>
          </a:xfrm>
          <a:custGeom>
            <a:avLst/>
            <a:gdLst/>
            <a:ahLst/>
            <a:cxnLst/>
            <a:rect l="l" t="t" r="r" b="b"/>
            <a:pathLst>
              <a:path w="2505663" h="4327964">
                <a:moveTo>
                  <a:pt x="0" y="0"/>
                </a:moveTo>
                <a:lnTo>
                  <a:pt x="2505663" y="0"/>
                </a:lnTo>
                <a:lnTo>
                  <a:pt x="2505663" y="4327964"/>
                </a:lnTo>
                <a:lnTo>
                  <a:pt x="0" y="432796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256847" y="394315"/>
            <a:ext cx="8015787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Subqueries &amp; CTEs (Advanced Analytics)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28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157373"/>
            <a:ext cx="5986086" cy="2388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1. Find patients whose total billing is above average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concat(p.first_name, ' ', p.last_name) as patient_name, sum(b.amount) as total_billing from patients p left join billing b on p.patient_id = b.patient_id where amount &gt; (select avg(amount) as amount from billing) group by patient_name order by total_billing DESC;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78566" y="3157373"/>
            <a:ext cx="7716431" cy="2731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2. Identify doctors who treat patients with high-cost treatments (&gt; avg)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select d.doctor_id, concat(d.first_name, ' ', d.last_name) as doctor_name, sum(t.cost) as cost from appointments a left join doctors d on d.doctor_id = a.doctor_id left join treatments t on a.appointment_id = t.appointment_id where cost &gt; (select avg(cost) as cost from treatments) group by doctor_id, doctor_name order by cost DESC;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984777" y="6935183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1039442" y="1315480"/>
            <a:ext cx="1098886" cy="1084016"/>
          </a:xfrm>
          <a:custGeom>
            <a:avLst/>
            <a:gdLst/>
            <a:ahLst/>
            <a:cxnLst/>
            <a:rect l="l" t="t" r="r" b="b"/>
            <a:pathLst>
              <a:path w="1098886" h="1084016">
                <a:moveTo>
                  <a:pt x="1098886" y="0"/>
                </a:moveTo>
                <a:lnTo>
                  <a:pt x="0" y="0"/>
                </a:lnTo>
                <a:lnTo>
                  <a:pt x="0" y="1084016"/>
                </a:lnTo>
                <a:lnTo>
                  <a:pt x="1098886" y="1084016"/>
                </a:lnTo>
                <a:lnTo>
                  <a:pt x="109888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216168" y="330011"/>
            <a:ext cx="2443964" cy="3054955"/>
          </a:xfrm>
          <a:custGeom>
            <a:avLst/>
            <a:gdLst/>
            <a:ahLst/>
            <a:cxnLst/>
            <a:rect l="l" t="t" r="r" b="b"/>
            <a:pathLst>
              <a:path w="2443964" h="3054955">
                <a:moveTo>
                  <a:pt x="0" y="0"/>
                </a:moveTo>
                <a:lnTo>
                  <a:pt x="2443964" y="0"/>
                </a:lnTo>
                <a:lnTo>
                  <a:pt x="2443964" y="3054955"/>
                </a:lnTo>
                <a:lnTo>
                  <a:pt x="0" y="30549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292037" y="7937432"/>
            <a:ext cx="1501994" cy="2060092"/>
          </a:xfrm>
          <a:custGeom>
            <a:avLst/>
            <a:gdLst/>
            <a:ahLst/>
            <a:cxnLst/>
            <a:rect l="l" t="t" r="r" b="b"/>
            <a:pathLst>
              <a:path w="1501994" h="2060092">
                <a:moveTo>
                  <a:pt x="0" y="0"/>
                </a:moveTo>
                <a:lnTo>
                  <a:pt x="1501994" y="0"/>
                </a:lnTo>
                <a:lnTo>
                  <a:pt x="1501994" y="2060092"/>
                </a:lnTo>
                <a:lnTo>
                  <a:pt x="0" y="206009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1028700"/>
            <a:ext cx="3744281" cy="1087178"/>
            <a:chOff x="0" y="0"/>
            <a:chExt cx="986148" cy="2863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6148" cy="286335"/>
            </a:xfrm>
            <a:custGeom>
              <a:avLst/>
              <a:gdLst/>
              <a:ahLst/>
              <a:cxnLst/>
              <a:rect l="l" t="t" r="r" b="b"/>
              <a:pathLst>
                <a:path w="986148" h="286335">
                  <a:moveTo>
                    <a:pt x="0" y="0"/>
                  </a:moveTo>
                  <a:lnTo>
                    <a:pt x="986148" y="0"/>
                  </a:lnTo>
                  <a:lnTo>
                    <a:pt x="986148" y="286335"/>
                  </a:lnTo>
                  <a:lnTo>
                    <a:pt x="0" y="286335"/>
                  </a:lnTo>
                  <a:close/>
                </a:path>
              </a:pathLst>
            </a:custGeom>
            <a:gradFill rotWithShape="1">
              <a:gsLst>
                <a:gs pos="0">
                  <a:srgbClr val="00FFC3">
                    <a:alpha val="100000"/>
                  </a:srgbClr>
                </a:gs>
                <a:gs pos="100000">
                  <a:srgbClr val="FFF7F5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86148" cy="324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395062" y="5937086"/>
            <a:ext cx="6177182" cy="1082853"/>
          </a:xfrm>
          <a:custGeom>
            <a:avLst/>
            <a:gdLst/>
            <a:ahLst/>
            <a:cxnLst/>
            <a:rect l="l" t="t" r="r" b="b"/>
            <a:pathLst>
              <a:path w="6177182" h="1082853">
                <a:moveTo>
                  <a:pt x="0" y="0"/>
                </a:moveTo>
                <a:lnTo>
                  <a:pt x="6177183" y="0"/>
                </a:lnTo>
                <a:lnTo>
                  <a:pt x="6177183" y="1082853"/>
                </a:lnTo>
                <a:lnTo>
                  <a:pt x="0" y="10828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709834" y="4650829"/>
            <a:ext cx="5877633" cy="5044237"/>
          </a:xfrm>
          <a:custGeom>
            <a:avLst/>
            <a:gdLst/>
            <a:ahLst/>
            <a:cxnLst/>
            <a:rect l="l" t="t" r="r" b="b"/>
            <a:pathLst>
              <a:path w="5877633" h="5044237">
                <a:moveTo>
                  <a:pt x="0" y="0"/>
                </a:moveTo>
                <a:lnTo>
                  <a:pt x="5877633" y="0"/>
                </a:lnTo>
                <a:lnTo>
                  <a:pt x="5877633" y="5044237"/>
                </a:lnTo>
                <a:lnTo>
                  <a:pt x="0" y="504423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29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81784" y="463361"/>
            <a:ext cx="7890850" cy="1581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Subqueries &amp; CTEs (Advanced Analytics)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5062" y="2262849"/>
            <a:ext cx="6823123" cy="341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4. Find the second highest billed patient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with PatientBilling as (select p.patient_id, concat(p.first_name, ' ', p.last_name) as patient_name, sum(b.amount) as total_billed, dense_rank() over (order by SUM(b.amount) desc) as RankNum from billing b left join treatments t on b.treatment_id = t.treatment_id left join appointments a on t.appointment_id = a.appointment_id join patients p on a.patient_id = p.patient_id group by p.patient_id, patient_name) select patient_id, patient_name, total_billed from PatientBilling where RankNum = 2;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09834" y="2361396"/>
            <a:ext cx="8679792" cy="2045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5. Calculate running total of monthly revenue</a:t>
            </a:r>
          </a:p>
          <a:p>
            <a:pPr algn="l">
              <a:lnSpc>
                <a:spcPts val="2758"/>
              </a:lnSpc>
              <a:spcBef>
                <a:spcPct val="0"/>
              </a:spcBef>
            </a:pPr>
            <a:r>
              <a:rPr lang="en-US" sz="197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with MonthlyRevenue as (select date_format(treatment_date, '%Y-%m') as month, sum(cost) as monthly_revenue from treatments group by date_format(treatment_date, '%Y-%m')) select month, monthly_revenue, sum(monthly_revenue) over (order by month) as running_total from MonthlyRevenue order by month;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0929" b="-109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43034" y="0"/>
            <a:ext cx="8229600" cy="1975758"/>
          </a:xfrm>
          <a:custGeom>
            <a:avLst/>
            <a:gdLst/>
            <a:ahLst/>
            <a:cxnLst/>
            <a:rect l="l" t="t" r="r" b="b"/>
            <a:pathLst>
              <a:path w="8229600" h="1975758">
                <a:moveTo>
                  <a:pt x="0" y="0"/>
                </a:moveTo>
                <a:lnTo>
                  <a:pt x="8229600" y="0"/>
                </a:lnTo>
                <a:lnTo>
                  <a:pt x="8229600" y="1975758"/>
                </a:lnTo>
                <a:lnTo>
                  <a:pt x="0" y="19757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1652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094997" y="9057334"/>
            <a:ext cx="3193003" cy="1031638"/>
          </a:xfrm>
          <a:custGeom>
            <a:avLst/>
            <a:gdLst/>
            <a:ahLst/>
            <a:cxnLst/>
            <a:rect l="l" t="t" r="r" b="b"/>
            <a:pathLst>
              <a:path w="3193003" h="1031638">
                <a:moveTo>
                  <a:pt x="0" y="0"/>
                </a:moveTo>
                <a:lnTo>
                  <a:pt x="3193003" y="0"/>
                </a:lnTo>
                <a:lnTo>
                  <a:pt x="3193003" y="1031638"/>
                </a:lnTo>
                <a:lnTo>
                  <a:pt x="0" y="1031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92612" y="1661255"/>
            <a:ext cx="1211969" cy="1195569"/>
          </a:xfrm>
          <a:custGeom>
            <a:avLst/>
            <a:gdLst/>
            <a:ahLst/>
            <a:cxnLst/>
            <a:rect l="l" t="t" r="r" b="b"/>
            <a:pathLst>
              <a:path w="1211969" h="1195569">
                <a:moveTo>
                  <a:pt x="0" y="0"/>
                </a:moveTo>
                <a:lnTo>
                  <a:pt x="1211969" y="0"/>
                </a:lnTo>
                <a:lnTo>
                  <a:pt x="1211969" y="1195569"/>
                </a:lnTo>
                <a:lnTo>
                  <a:pt x="0" y="11955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1984777" y="7032029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1028700"/>
            <a:ext cx="1027151" cy="1013252"/>
          </a:xfrm>
          <a:custGeom>
            <a:avLst/>
            <a:gdLst/>
            <a:ahLst/>
            <a:cxnLst/>
            <a:rect l="l" t="t" r="r" b="b"/>
            <a:pathLst>
              <a:path w="1027151" h="1013252">
                <a:moveTo>
                  <a:pt x="0" y="0"/>
                </a:moveTo>
                <a:lnTo>
                  <a:pt x="1027151" y="0"/>
                </a:lnTo>
                <a:lnTo>
                  <a:pt x="1027151" y="1013252"/>
                </a:lnTo>
                <a:lnTo>
                  <a:pt x="0" y="10132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63200" y="4294071"/>
            <a:ext cx="2737958" cy="2737958"/>
          </a:xfrm>
          <a:custGeom>
            <a:avLst/>
            <a:gdLst/>
            <a:ahLst/>
            <a:cxnLst/>
            <a:rect l="l" t="t" r="r" b="b"/>
            <a:pathLst>
              <a:path w="2737958" h="2737958">
                <a:moveTo>
                  <a:pt x="0" y="0"/>
                </a:moveTo>
                <a:lnTo>
                  <a:pt x="2737958" y="0"/>
                </a:lnTo>
                <a:lnTo>
                  <a:pt x="2737958" y="2737958"/>
                </a:lnTo>
                <a:lnTo>
                  <a:pt x="0" y="27379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928049" y="8433789"/>
            <a:ext cx="4431903" cy="1536362"/>
          </a:xfrm>
          <a:custGeom>
            <a:avLst/>
            <a:gdLst/>
            <a:ahLst/>
            <a:cxnLst/>
            <a:rect l="l" t="t" r="r" b="b"/>
            <a:pathLst>
              <a:path w="4431903" h="1536362">
                <a:moveTo>
                  <a:pt x="0" y="0"/>
                </a:moveTo>
                <a:lnTo>
                  <a:pt x="4431902" y="0"/>
                </a:lnTo>
                <a:lnTo>
                  <a:pt x="4431902" y="1536362"/>
                </a:lnTo>
                <a:lnTo>
                  <a:pt x="0" y="15363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03000" y="4294071"/>
            <a:ext cx="2496288" cy="2383955"/>
          </a:xfrm>
          <a:custGeom>
            <a:avLst/>
            <a:gdLst/>
            <a:ahLst/>
            <a:cxnLst/>
            <a:rect l="l" t="t" r="r" b="b"/>
            <a:pathLst>
              <a:path w="2496288" h="2383955">
                <a:moveTo>
                  <a:pt x="0" y="0"/>
                </a:moveTo>
                <a:lnTo>
                  <a:pt x="2496288" y="0"/>
                </a:lnTo>
                <a:lnTo>
                  <a:pt x="2496288" y="2383955"/>
                </a:lnTo>
                <a:lnTo>
                  <a:pt x="0" y="23839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5592612" y="9478334"/>
            <a:ext cx="845538" cy="519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5"/>
              </a:lnSpc>
            </a:pPr>
            <a:r>
              <a:rPr lang="en-US" sz="3974">
                <a:solidFill>
                  <a:srgbClr val="015743"/>
                </a:solidFill>
                <a:latin typeface="TT Norms"/>
                <a:ea typeface="TT Norms"/>
                <a:cs typeface="TT Norms"/>
                <a:sym typeface="TT Norms"/>
              </a:rPr>
              <a:t>30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59407" y="644832"/>
            <a:ext cx="9527132" cy="81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9"/>
              </a:lnSpc>
            </a:pPr>
            <a:r>
              <a:rPr lang="en-US" sz="6259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Conclusion &amp; Key Insights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2982304" y="2248793"/>
            <a:ext cx="12197880" cy="5911960"/>
            <a:chOff x="0" y="0"/>
            <a:chExt cx="3437391" cy="166600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437391" cy="1666004"/>
            </a:xfrm>
            <a:custGeom>
              <a:avLst/>
              <a:gdLst/>
              <a:ahLst/>
              <a:cxnLst/>
              <a:rect l="l" t="t" r="r" b="b"/>
              <a:pathLst>
                <a:path w="3437391" h="1666004">
                  <a:moveTo>
                    <a:pt x="10155" y="0"/>
                  </a:moveTo>
                  <a:lnTo>
                    <a:pt x="3427236" y="0"/>
                  </a:lnTo>
                  <a:cubicBezTo>
                    <a:pt x="3429929" y="0"/>
                    <a:pt x="3432512" y="1070"/>
                    <a:pt x="3434417" y="2974"/>
                  </a:cubicBezTo>
                  <a:cubicBezTo>
                    <a:pt x="3436321" y="4879"/>
                    <a:pt x="3437391" y="7462"/>
                    <a:pt x="3437391" y="10155"/>
                  </a:cubicBezTo>
                  <a:lnTo>
                    <a:pt x="3437391" y="1655849"/>
                  </a:lnTo>
                  <a:cubicBezTo>
                    <a:pt x="3437391" y="1658542"/>
                    <a:pt x="3436321" y="1661125"/>
                    <a:pt x="3434417" y="1663030"/>
                  </a:cubicBezTo>
                  <a:cubicBezTo>
                    <a:pt x="3432512" y="1664934"/>
                    <a:pt x="3429929" y="1666004"/>
                    <a:pt x="3427236" y="1666004"/>
                  </a:cubicBezTo>
                  <a:lnTo>
                    <a:pt x="10155" y="1666004"/>
                  </a:lnTo>
                  <a:cubicBezTo>
                    <a:pt x="7462" y="1666004"/>
                    <a:pt x="4879" y="1664934"/>
                    <a:pt x="2974" y="1663030"/>
                  </a:cubicBezTo>
                  <a:cubicBezTo>
                    <a:pt x="1070" y="1661125"/>
                    <a:pt x="0" y="1658542"/>
                    <a:pt x="0" y="1655849"/>
                  </a:cubicBezTo>
                  <a:lnTo>
                    <a:pt x="0" y="10155"/>
                  </a:lnTo>
                  <a:cubicBezTo>
                    <a:pt x="0" y="7462"/>
                    <a:pt x="1070" y="4879"/>
                    <a:pt x="2974" y="2974"/>
                  </a:cubicBezTo>
                  <a:cubicBezTo>
                    <a:pt x="4879" y="1070"/>
                    <a:pt x="7462" y="0"/>
                    <a:pt x="10155" y="0"/>
                  </a:cubicBezTo>
                  <a:close/>
                </a:path>
              </a:pathLst>
            </a:custGeom>
            <a:solidFill>
              <a:srgbClr val="8BFFE4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66675"/>
              <a:ext cx="3437391" cy="1599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117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337808" y="2320925"/>
            <a:ext cx="11621920" cy="580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3727" lvl="1" indent="-296864" algn="l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This SQL project demonstrates the use of data analytics to evaluate hospital operations, patient behavior, doctor performance, and revenue trends.</a:t>
            </a:r>
          </a:p>
          <a:p>
            <a:pPr marL="593727" lvl="1" indent="-296864" algn="l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Using advanced SQL techniques such as joins, subqueries, CTEs, and window functions, actionable insights were derived from multiple interconnected tables.</a:t>
            </a:r>
          </a:p>
          <a:p>
            <a:pPr marL="593727" lvl="1" indent="-296864" algn="l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The analysis highlights key business drivers, including high-revenue treatments, top-performing doctors, repeat patients, and unpaid billing risks.</a:t>
            </a:r>
          </a:p>
          <a:p>
            <a:pPr marL="593727" lvl="1" indent="-296864" algn="l">
              <a:lnSpc>
                <a:spcPts val="3850"/>
              </a:lnSpc>
              <a:buFont typeface="Arial"/>
              <a:buChar char="•"/>
            </a:pPr>
            <a:r>
              <a:rPr lang="en-US" sz="2750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Overall, the project showcases strong SQL proficiency, analytical thinking, and business-oriented problem solving, aligned with real-world healthcare analytics use cases.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12" t="-18886" r="-16973" b="-7969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594542" y="0"/>
            <a:ext cx="2176743" cy="4599911"/>
          </a:xfrm>
          <a:custGeom>
            <a:avLst/>
            <a:gdLst/>
            <a:ahLst/>
            <a:cxnLst/>
            <a:rect l="l" t="t" r="r" b="b"/>
            <a:pathLst>
              <a:path w="2176743" h="4599911">
                <a:moveTo>
                  <a:pt x="0" y="0"/>
                </a:moveTo>
                <a:lnTo>
                  <a:pt x="2176743" y="0"/>
                </a:lnTo>
                <a:lnTo>
                  <a:pt x="2176743" y="4599911"/>
                </a:lnTo>
                <a:lnTo>
                  <a:pt x="0" y="45999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664999" y="8494378"/>
            <a:ext cx="2176743" cy="4599911"/>
          </a:xfrm>
          <a:custGeom>
            <a:avLst/>
            <a:gdLst/>
            <a:ahLst/>
            <a:cxnLst/>
            <a:rect l="l" t="t" r="r" b="b"/>
            <a:pathLst>
              <a:path w="2176743" h="4599911">
                <a:moveTo>
                  <a:pt x="0" y="0"/>
                </a:moveTo>
                <a:lnTo>
                  <a:pt x="2176743" y="0"/>
                </a:lnTo>
                <a:lnTo>
                  <a:pt x="2176743" y="4599910"/>
                </a:lnTo>
                <a:lnTo>
                  <a:pt x="0" y="4599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130523" y="-514050"/>
            <a:ext cx="6026954" cy="4646234"/>
          </a:xfrm>
          <a:custGeom>
            <a:avLst/>
            <a:gdLst/>
            <a:ahLst/>
            <a:cxnLst/>
            <a:rect l="l" t="t" r="r" b="b"/>
            <a:pathLst>
              <a:path w="6026954" h="4646234">
                <a:moveTo>
                  <a:pt x="0" y="0"/>
                </a:moveTo>
                <a:lnTo>
                  <a:pt x="6026954" y="0"/>
                </a:lnTo>
                <a:lnTo>
                  <a:pt x="6026954" y="4646234"/>
                </a:lnTo>
                <a:lnTo>
                  <a:pt x="0" y="46462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4664213"/>
            <a:ext cx="4621002" cy="142831"/>
          </a:xfrm>
          <a:custGeom>
            <a:avLst/>
            <a:gdLst/>
            <a:ahLst/>
            <a:cxnLst/>
            <a:rect l="l" t="t" r="r" b="b"/>
            <a:pathLst>
              <a:path w="4621002" h="142831">
                <a:moveTo>
                  <a:pt x="0" y="0"/>
                </a:moveTo>
                <a:lnTo>
                  <a:pt x="4621002" y="0"/>
                </a:lnTo>
                <a:lnTo>
                  <a:pt x="4621002" y="142831"/>
                </a:lnTo>
                <a:lnTo>
                  <a:pt x="0" y="1428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753370" y="4379578"/>
            <a:ext cx="6398349" cy="4114800"/>
          </a:xfrm>
          <a:custGeom>
            <a:avLst/>
            <a:gdLst/>
            <a:ahLst/>
            <a:cxnLst/>
            <a:rect l="l" t="t" r="r" b="b"/>
            <a:pathLst>
              <a:path w="6398349" h="4114800">
                <a:moveTo>
                  <a:pt x="0" y="0"/>
                </a:moveTo>
                <a:lnTo>
                  <a:pt x="6398349" y="0"/>
                </a:lnTo>
                <a:lnTo>
                  <a:pt x="63983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5575501"/>
            <a:ext cx="10942869" cy="1761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86"/>
              </a:lnSpc>
            </a:pPr>
            <a:r>
              <a:rPr lang="en-US" sz="13735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84495" y="1524638"/>
            <a:ext cx="3832032" cy="325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7"/>
              </a:lnSpc>
            </a:pPr>
            <a:r>
              <a:rPr lang="en-US" sz="2549" b="1">
                <a:solidFill>
                  <a:srgbClr val="000000"/>
                </a:solidFill>
                <a:latin typeface="TT Norms Bold"/>
                <a:ea typeface="TT Norms Bold"/>
                <a:cs typeface="TT Norms Bold"/>
                <a:sym typeface="TT Norms Bold"/>
              </a:rPr>
              <a:t>Saad Ahmed Shaikh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3575844"/>
            <a:ext cx="8115300" cy="61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3"/>
              </a:lnSpc>
            </a:pPr>
            <a:r>
              <a:rPr lang="en-US" sz="4732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SQL Data Analytics Project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060096"/>
            <a:ext cx="5933138" cy="668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9"/>
              </a:lnSpc>
            </a:pPr>
            <a:r>
              <a:rPr lang="en-US" sz="5155">
                <a:solidFill>
                  <a:srgbClr val="000000"/>
                </a:solidFill>
                <a:latin typeface="TT Norms"/>
                <a:ea typeface="TT Norms"/>
                <a:cs typeface="TT Norms"/>
                <a:sym typeface="TT Norms"/>
              </a:rPr>
              <a:t>Q And A Session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2830</Words>
  <Application>Microsoft Office PowerPoint</Application>
  <PresentationFormat>Custom</PresentationFormat>
  <Paragraphs>196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TT Norms Bold</vt:lpstr>
      <vt:lpstr>TT Norms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Management System - SQL</dc:title>
  <cp:lastModifiedBy>Saad Ahmed Shaikh</cp:lastModifiedBy>
  <cp:revision>4</cp:revision>
  <dcterms:created xsi:type="dcterms:W3CDTF">2006-08-16T00:00:00Z</dcterms:created>
  <dcterms:modified xsi:type="dcterms:W3CDTF">2025-12-28T18:26:46Z</dcterms:modified>
  <dc:identifier>DAG8U7GWgkc</dc:identifier>
</cp:coreProperties>
</file>